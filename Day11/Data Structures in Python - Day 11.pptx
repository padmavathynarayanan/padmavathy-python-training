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9144000" cy="6858000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regular.fntdata"/><Relationship Id="rId30" Type="http://schemas.openxmlformats.org/officeDocument/2006/relationships/font" Target="fonts/Montserrat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DMSans-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de47730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3de47730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1c165cb9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a1c165cb9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1c165cb9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1c165cb9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a1c165cb9_0_1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6c84a3a5_0_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e6c84a3a5_0_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e6c84a3a5_0_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6c84a3a5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e6c84a3a5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e6c84a3a5_0_2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6c84a3a5_0_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e6c84a3a5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e6c84a3a5_0_1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e6c84a3a5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e6c84a3a5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e6c84a3a5_0_3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e6c84a3a5_0_4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e6c84a3a5_0_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e6c84a3a5_0_4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e6c84a3a5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e6c84a3a5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e6c84a3a5_0_5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e6c84a3a5_0_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e6c84a3a5_0_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e6c84a3a5_0_58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e6c84a3a5_0_1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e6c84a3a5_0_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be6c84a3a5_0_13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e6c84a3a5_0_6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e6c84a3a5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be6c84a3a5_0_66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e6c84a3a5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e6c84a3a5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e6c84a3a5_0_76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e6c84a3a5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e6c84a3a5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e6c84a3a5_0_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e6c84a3a5_0_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e6c84a3a5_0_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be6c84a3a5_0_9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e6c84a3a5_0_1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e6c84a3a5_0_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be6c84a3a5_0_10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e6c84a3a5_0_1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e6c84a3a5_0_1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be6c84a3a5_0_12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e6bd4c314_0_1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e6bd4c314_0_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e6bd4c314_0_10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735a022c8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735a022c8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c735a022c8_0_1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20015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4933950"/>
            <a:ext cx="9144000" cy="209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4927410"/>
            <a:ext cx="822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7990448" y="4906215"/>
            <a:ext cx="11394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237925" y="35375"/>
            <a:ext cx="59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0F243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Structures in Python</a:t>
            </a:r>
            <a:endParaRPr b="1" sz="2500">
              <a:solidFill>
                <a:srgbClr val="0F243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73550" y="803825"/>
            <a:ext cx="7465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Linked Lists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Singly Linked List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Doubly Linked List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Linked List Operations (insert, delete, traverse)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Reversal of Linked List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Practice Problems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3550" y="76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sz="22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650" y="1723475"/>
            <a:ext cx="3109775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94350" y="1029175"/>
            <a:ext cx="8355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unit introduces the fundamental concepts of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Trees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 hierarchical data structure widely used in computer science. Students will understand tree terminology, different types of trees, and how trees are represented in memory.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96925" y="76775"/>
            <a:ext cx="48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Unit 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Trees</a:t>
            </a:r>
            <a:endParaRPr sz="2200"/>
          </a:p>
        </p:txBody>
      </p:sp>
      <p:sp>
        <p:nvSpPr>
          <p:cNvPr id="114" name="Google Shape;114;p18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Tree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is a hierarchical, non-linear data structure consisting of nodes connected by edges.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Unlike arrays and linked lists (linear structures), trees store data in a hierarchy.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Real-Life Examples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File system (folders &amp; subfolders)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Organization hierarchy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Family tree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Decision trees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HTML DOM structure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Terminology</a:t>
            </a:r>
            <a:endParaRPr sz="2200"/>
          </a:p>
        </p:txBody>
      </p:sp>
      <p:sp>
        <p:nvSpPr>
          <p:cNvPr id="122" name="Google Shape;122;p19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Understanding terminology is very important.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Root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Topmost node of the tree.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Parent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node that has children.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Child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node connected below another node.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Siblings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Nodes sharing the same parent.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4767025" y="833300"/>
            <a:ext cx="41820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Leaf Node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 with no children.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Internal Node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 with at least one child.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Edge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Connection between two nodes.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Height of Tree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Longest path from root to leaf.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🔹 Depth of Node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 of edges from root to that node.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Representation in Python</a:t>
            </a:r>
            <a:endParaRPr sz="2200"/>
          </a:p>
        </p:txBody>
      </p:sp>
      <p:sp>
        <p:nvSpPr>
          <p:cNvPr id="131" name="Google Shape;131;p20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Trees are usually represented using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Nodes and References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Basic Node Structure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class Node: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def __init__(self, data):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self.data = data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self.left = None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self.right = None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structure is mainly used for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Binary Trees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Binary Tree</a:t>
            </a:r>
            <a:endParaRPr sz="2200"/>
          </a:p>
        </p:txBody>
      </p:sp>
      <p:sp>
        <p:nvSpPr>
          <p:cNvPr id="139" name="Google Shape;139;p21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Binary Tree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is a tree where each node has at most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two children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child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Right child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10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/ 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5    20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95725"/>
            <a:ext cx="2765900" cy="294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Traversals</a:t>
            </a:r>
            <a:endParaRPr sz="2200"/>
          </a:p>
        </p:txBody>
      </p:sp>
      <p:sp>
        <p:nvSpPr>
          <p:cNvPr id="148" name="Google Shape;148;p22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Traversal means visiting every node in a specific order.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Inorder Traversal (LNR)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→ Node → Right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inorder(root):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root: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inorder(root.left)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print(root.data)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inorder(root.right)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in BST to get sorted output.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Traversals</a:t>
            </a:r>
            <a:endParaRPr sz="2200"/>
          </a:p>
        </p:txBody>
      </p:sp>
      <p:sp>
        <p:nvSpPr>
          <p:cNvPr id="156" name="Google Shape;156;p23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Preorder Traversal (NLR)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 → Left → Right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preorder(root):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root: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print(root.data)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preorder(root.left)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preorder(root.right)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to copy tree structure.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Traversals</a:t>
            </a:r>
            <a:endParaRPr sz="2200"/>
          </a:p>
        </p:txBody>
      </p:sp>
      <p:sp>
        <p:nvSpPr>
          <p:cNvPr id="164" name="Google Shape;164;p24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Postorder Traversal (LRN)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→ Right → Node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postorder(root):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root: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postorder(root.left)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postorder(root.right)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print(root.data)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for deleting trees.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Traversals</a:t>
            </a:r>
            <a:endParaRPr sz="2200"/>
          </a:p>
        </p:txBody>
      </p:sp>
      <p:sp>
        <p:nvSpPr>
          <p:cNvPr id="172" name="Google Shape;172;p25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 Level Order Traversal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nodes level by level. 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Queue (BFS approach)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from collections import deque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level_order(root):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not root: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return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queue = deque([root])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while queue: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node = queue.popleft()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print(node.data)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if node.left: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    queue.append(node.left)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if node.right: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    queue.append(node.right)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Tree Traversals</a:t>
            </a:r>
            <a:endParaRPr sz="2200"/>
          </a:p>
        </p:txBody>
      </p:sp>
      <p:sp>
        <p:nvSpPr>
          <p:cNvPr id="180" name="Google Shape;180;p26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838" y="968638"/>
            <a:ext cx="6976324" cy="36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Types of Binary Trees</a:t>
            </a:r>
            <a:endParaRPr sz="2200"/>
          </a:p>
        </p:txBody>
      </p:sp>
      <p:sp>
        <p:nvSpPr>
          <p:cNvPr id="189" name="Google Shape;189;p27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Full Binary Tree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Every node has either 0 or 2 children.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Complete Binary Tree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 levels are completely filled except possibly the last level, filled from left.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Perfect Binary Tree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 internal nodes have 2 children and all leaves are at same level.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Balanced Binary Tree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Height difference between left and right subtree ≤ 1.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Binary Search Tree (BST)</a:t>
            </a:r>
            <a:endParaRPr sz="2200"/>
          </a:p>
        </p:txBody>
      </p:sp>
      <p:sp>
        <p:nvSpPr>
          <p:cNvPr id="197" name="Google Shape;197;p28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Binary Search Tree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follows this rule: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subtree &lt; Root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Right subtree &gt; Root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10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/ 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5    20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13165" r="10247" t="12664"/>
          <a:stretch/>
        </p:blipFill>
        <p:spPr>
          <a:xfrm>
            <a:off x="4046950" y="964238"/>
            <a:ext cx="4441426" cy="367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BST Operations</a:t>
            </a:r>
            <a:endParaRPr sz="2200"/>
          </a:p>
        </p:txBody>
      </p:sp>
      <p:sp>
        <p:nvSpPr>
          <p:cNvPr id="206" name="Google Shape;206;p29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Insert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insert(root, key):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not root: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return Node(key)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key &lt; root.data: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root.left = insert(root.left, key)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else: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root.right = insert(root.right, key)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return root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Average: O(log 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Worst case: O(n)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BST Operations</a:t>
            </a:r>
            <a:endParaRPr sz="2200"/>
          </a:p>
        </p:txBody>
      </p:sp>
      <p:sp>
        <p:nvSpPr>
          <p:cNvPr id="214" name="Google Shape;214;p30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Search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search(root, key):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not root or root.data == key: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return root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if key &lt; root.data: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return search(root.left, key)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return search(root.right, key)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1" name="Google Shape;221;p3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BST Operations</a:t>
            </a:r>
            <a:endParaRPr sz="2200"/>
          </a:p>
        </p:txBody>
      </p:sp>
      <p:sp>
        <p:nvSpPr>
          <p:cNvPr id="222" name="Google Shape;222;p31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Delete (Concept)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Three cases: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 is a leaf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 has one child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Node has two children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Replace with inorder successor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Real-World Applications</a:t>
            </a:r>
            <a:endParaRPr sz="2200"/>
          </a:p>
        </p:txBody>
      </p:sp>
      <p:sp>
        <p:nvSpPr>
          <p:cNvPr id="230" name="Google Shape;230;p32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Database indexing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File systems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Expression trees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Decision making systems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Auto-complete systems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Routing algorithms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Problem Solving Section</a:t>
            </a:r>
            <a:endParaRPr sz="2200"/>
          </a:p>
        </p:txBody>
      </p:sp>
      <p:sp>
        <p:nvSpPr>
          <p:cNvPr id="238" name="Google Shape;238;p33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Create a binary tree manually.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Perform all four traversals.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 startAt="3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Insert elements in BST.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 startAt="3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 for a value.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 startAt="5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height of tree.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 startAt="5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 if tree is balanced.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 startAt="5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Delete a node from BST.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5" name="Google Shape;245;p34"/>
          <p:cNvSpPr txBox="1"/>
          <p:nvPr/>
        </p:nvSpPr>
        <p:spPr>
          <a:xfrm>
            <a:off x="196925" y="310100"/>
            <a:ext cx="63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Outcomes</a:t>
            </a:r>
            <a:endParaRPr sz="2200"/>
          </a:p>
        </p:txBody>
      </p:sp>
      <p:sp>
        <p:nvSpPr>
          <p:cNvPr id="246" name="Google Shape;246;p34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Tree terminology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Binary Tree structure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Tree traversals (Inorder, Preorder, Postorder, Level Order)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Types of trees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Binary Search Tree (BST)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BST operations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Time complexity analysis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2286000" y="237169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