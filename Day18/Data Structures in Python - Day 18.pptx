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9144000" cy="6858000"/>
  <p:embeddedFontLst>
    <p:embeddedFont>
      <p:font typeface="Montserrat SemiBold"/>
      <p:regular r:id="rId32"/>
      <p:bold r:id="rId33"/>
      <p:italic r:id="rId34"/>
      <p:boldItalic r:id="rId35"/>
    </p:embeddedFont>
    <p:embeddedFont>
      <p:font typeface="DM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160" orient="horz"/>
        <p:guide pos="288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SemiBold-bold.fntdata"/><Relationship Id="rId10" Type="http://schemas.openxmlformats.org/officeDocument/2006/relationships/slide" Target="slides/slide5.xml"/><Relationship Id="rId32" Type="http://schemas.openxmlformats.org/officeDocument/2006/relationships/font" Target="fonts/MontserratSemiBold-regular.fntdata"/><Relationship Id="rId13" Type="http://schemas.openxmlformats.org/officeDocument/2006/relationships/slide" Target="slides/slide8.xml"/><Relationship Id="rId35" Type="http://schemas.openxmlformats.org/officeDocument/2006/relationships/font" Target="fonts/MontserratSemiBold-boldItalic.fntdata"/><Relationship Id="rId12" Type="http://schemas.openxmlformats.org/officeDocument/2006/relationships/slide" Target="slides/slide7.xml"/><Relationship Id="rId34" Type="http://schemas.openxmlformats.org/officeDocument/2006/relationships/font" Target="fonts/MontserratSemiBold-italic.fntdata"/><Relationship Id="rId15" Type="http://schemas.openxmlformats.org/officeDocument/2006/relationships/slide" Target="slides/slide10.xml"/><Relationship Id="rId37" Type="http://schemas.openxmlformats.org/officeDocument/2006/relationships/font" Target="fonts/DMSans-bold.fntdata"/><Relationship Id="rId14" Type="http://schemas.openxmlformats.org/officeDocument/2006/relationships/slide" Target="slides/slide9.xml"/><Relationship Id="rId36" Type="http://schemas.openxmlformats.org/officeDocument/2006/relationships/font" Target="fonts/DMSans-regular.fntdata"/><Relationship Id="rId17" Type="http://schemas.openxmlformats.org/officeDocument/2006/relationships/slide" Target="slides/slide12.xml"/><Relationship Id="rId39" Type="http://schemas.openxmlformats.org/officeDocument/2006/relationships/font" Target="fonts/DMSans-boldItalic.fntdata"/><Relationship Id="rId16" Type="http://schemas.openxmlformats.org/officeDocument/2006/relationships/slide" Target="slides/slide11.xml"/><Relationship Id="rId38" Type="http://schemas.openxmlformats.org/officeDocument/2006/relationships/font" Target="fonts/DM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3de477302_0_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73de47730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a1c165cb9_0_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7a1c165cb9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7a1c165cb9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7a1c165cb9_0_1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7a1c165cb9_0_185: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a492ff38b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a492ff38b_0_9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ca492ff38b_0_90: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a492ff38b_0_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a492ff38b_0_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ca492ff38b_0_2: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a492ff38b_0_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a492ff38b_0_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ca492ff38b_0_1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a492ff38b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a492ff38b_0_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ca492ff38b_0_20: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a492ff3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a492ff38b_0_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ca492ff38b_0_29: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a492ff38b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a492ff38b_0_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ca492ff38b_0_38: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a492ff38b_0_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a492ff38b_0_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ca492ff38b_0_47: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a492ff38b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a492ff38b_0_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ca492ff38b_0_56: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a492ff38b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a492ff38b_0_6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ca492ff38b_0_67: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a492ff38b_0_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a492ff38b_0_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ca492ff38b_0_78: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a492e9af8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a492e9af8_0_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ca492e9af8_0_5: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a492e9af8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ca492e9af8_0_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ca492e9af8_0_14: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a492e9af8_0_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a492e9af8_0_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ca492e9af8_0_23: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a492e9af8_0_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a492e9af8_0_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ca492e9af8_0_3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a492e9af8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a492e9af8_0_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ca492e9af8_0_4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a492e9af8_0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ca492e9af8_0_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ca492e9af8_0_5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a492e9af8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a492e9af8_0_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ca492e9af8_0_59: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a492e9af8_0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a492e9af8_0_9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ca492e9af8_0_9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a492e9af8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a492e9af8_0_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ca492e9af8_0_7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a492e9af8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a492e9af8_0_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ca492e9af8_0_81: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735a022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c735a022c8_0_1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c735a022c8_0_135: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685800" y="1200150"/>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4"/>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5"/>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2" name="Google Shape;32;p5"/>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5"/>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6"/>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6"/>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6"/>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6"/>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7"/>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7"/>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8"/>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8"/>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9"/>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9" name="Google Shape;59;p9"/>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0" name="Google Shape;60;p9"/>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9"/>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9"/>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p:cNvSpPr/>
          <p:nvPr>
            <p:ph idx="2" type="pic"/>
          </p:nvPr>
        </p:nvSpPr>
        <p:spPr>
          <a:xfrm>
            <a:off x="1792288" y="459581"/>
            <a:ext cx="5486400" cy="3086100"/>
          </a:xfrm>
          <a:prstGeom prst="rect">
            <a:avLst/>
          </a:prstGeom>
          <a:noFill/>
          <a:ln>
            <a:noFill/>
          </a:ln>
        </p:spPr>
      </p:sp>
      <p:sp>
        <p:nvSpPr>
          <p:cNvPr id="66" name="Google Shape;66;p10"/>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7" name="Google Shape;67;p10"/>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0"/>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0"/>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1"/>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1"/>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11"/>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1"/>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1"/>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2"/>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2"/>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12"/>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12"/>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2" name="Shape 82"/>
        <p:cNvGrpSpPr/>
        <p:nvPr/>
      </p:nvGrpSpPr>
      <p:grpSpPr>
        <a:xfrm>
          <a:off x="0" y="0"/>
          <a:ext cx="0" cy="0"/>
          <a:chOff x="0" y="0"/>
          <a:chExt cx="0" cy="0"/>
        </a:xfrm>
      </p:grpSpPr>
      <p:sp>
        <p:nvSpPr>
          <p:cNvPr id="83" name="Google Shape;83;p13"/>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1" type="ftr"/>
          </p:nvPr>
        </p:nvSpPr>
        <p:spPr>
          <a:xfrm>
            <a:off x="7558138" y="4943218"/>
            <a:ext cx="1421642"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3"/>
          <p:cNvSpPr txBox="1"/>
          <p:nvPr>
            <p:ph idx="12" type="sldNum"/>
          </p:nvPr>
        </p:nvSpPr>
        <p:spPr>
          <a:xfrm>
            <a:off x="6553200" y="4767263"/>
            <a:ext cx="2133600" cy="27384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87" name="Shape 87"/>
        <p:cNvGrpSpPr/>
        <p:nvPr/>
      </p:nvGrpSpPr>
      <p:grpSpPr>
        <a:xfrm>
          <a:off x="0" y="0"/>
          <a:ext cx="0" cy="0"/>
          <a:chOff x="0" y="0"/>
          <a:chExt cx="0" cy="0"/>
        </a:xfrm>
      </p:grpSpPr>
      <p:sp>
        <p:nvSpPr>
          <p:cNvPr id="88" name="Google Shape;88;p14"/>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36260" y="2724150"/>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p:nvPr/>
        </p:nvSpPr>
        <p:spPr>
          <a:xfrm>
            <a:off x="0" y="4933950"/>
            <a:ext cx="9144000" cy="20955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1"/>
          <p:cNvSpPr txBox="1"/>
          <p:nvPr/>
        </p:nvSpPr>
        <p:spPr>
          <a:xfrm>
            <a:off x="0" y="4927410"/>
            <a:ext cx="82296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1100" u="none" cap="none" strike="noStrike">
                <a:solidFill>
                  <a:schemeClr val="lt1"/>
                </a:solidFill>
                <a:latin typeface="Calibri"/>
                <a:ea typeface="Calibri"/>
                <a:cs typeface="Calibri"/>
                <a:sym typeface="Calibri"/>
              </a:rPr>
              <a:t>GUVI – Grab Ur Vernacular Imprint – TRUSTED BY 3 MILLION+ LEARNERS | 1000 Hiring Partners | 100+ Education Institutions</a:t>
            </a:r>
            <a:endParaRPr b="1" i="0" sz="1100" u="none" cap="none" strike="noStrike">
              <a:solidFill>
                <a:schemeClr val="lt1"/>
              </a:solidFill>
              <a:latin typeface="Calibri"/>
              <a:ea typeface="Calibri"/>
              <a:cs typeface="Calibri"/>
              <a:sym typeface="Calibri"/>
            </a:endParaRPr>
          </a:p>
        </p:txBody>
      </p:sp>
      <p:pic>
        <p:nvPicPr>
          <p:cNvPr id="14" name="Google Shape;14;p1"/>
          <p:cNvPicPr preferRelativeResize="0"/>
          <p:nvPr/>
        </p:nvPicPr>
        <p:blipFill rotWithShape="1">
          <a:blip r:embed="rId1">
            <a:alphaModFix/>
          </a:blip>
          <a:srcRect b="0" l="0" r="0" t="0"/>
          <a:stretch/>
        </p:blipFill>
        <p:spPr>
          <a:xfrm>
            <a:off x="6664209" y="186928"/>
            <a:ext cx="2311249" cy="457200"/>
          </a:xfrm>
          <a:prstGeom prst="rect">
            <a:avLst/>
          </a:prstGeom>
          <a:noFill/>
          <a:ln>
            <a:noFill/>
          </a:ln>
        </p:spPr>
      </p:pic>
      <p:sp>
        <p:nvSpPr>
          <p:cNvPr id="15" name="Google Shape;15;p1"/>
          <p:cNvSpPr txBox="1"/>
          <p:nvPr/>
        </p:nvSpPr>
        <p:spPr>
          <a:xfrm>
            <a:off x="7990448" y="4906215"/>
            <a:ext cx="1139483"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IN" sz="1100" u="none" cap="none" strike="noStrike">
                <a:solidFill>
                  <a:schemeClr val="lt1"/>
                </a:solidFill>
                <a:latin typeface="Calibri"/>
                <a:ea typeface="Calibri"/>
                <a:cs typeface="Calibri"/>
                <a:sym typeface="Calibri"/>
              </a:rPr>
              <a:t>www.guvi.in</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50000"/>
          </a:blip>
          <a:stretch>
            <a:fillRect/>
          </a:stretch>
        </a:blipFill>
      </p:bgPr>
    </p:bg>
    <p:spTree>
      <p:nvGrpSpPr>
        <p:cNvPr id="92" name="Shape 92"/>
        <p:cNvGrpSpPr/>
        <p:nvPr/>
      </p:nvGrpSpPr>
      <p:grpSpPr>
        <a:xfrm>
          <a:off x="0" y="0"/>
          <a:ext cx="0" cy="0"/>
          <a:chOff x="0" y="0"/>
          <a:chExt cx="0" cy="0"/>
        </a:xfrm>
      </p:grpSpPr>
      <p:sp>
        <p:nvSpPr>
          <p:cNvPr id="93" name="Google Shape;93;p15"/>
          <p:cNvSpPr txBox="1"/>
          <p:nvPr/>
        </p:nvSpPr>
        <p:spPr>
          <a:xfrm>
            <a:off x="237925" y="35375"/>
            <a:ext cx="59397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500">
                <a:solidFill>
                  <a:srgbClr val="0F243E"/>
                </a:solidFill>
                <a:latin typeface="Montserrat SemiBold"/>
                <a:ea typeface="Montserrat SemiBold"/>
                <a:cs typeface="Montserrat SemiBold"/>
                <a:sym typeface="Montserrat SemiBold"/>
              </a:rPr>
              <a:t>Data Structures in Python</a:t>
            </a:r>
            <a:endParaRPr b="1" sz="2500">
              <a:solidFill>
                <a:srgbClr val="0F243E"/>
              </a:solidFill>
              <a:latin typeface="Montserrat SemiBold"/>
              <a:ea typeface="Montserrat SemiBold"/>
              <a:cs typeface="Montserrat SemiBold"/>
              <a:sym typeface="Montserrat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nvSpPr>
        <p:spPr>
          <a:xfrm>
            <a:off x="573550" y="599975"/>
            <a:ext cx="7465200" cy="3983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Introduction to Greedy techniques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Activity selection and greedy examples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DP on Trees concept</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DP with Bitmasking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DP with Segments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Practice examples and applications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0" lvl="0" marL="914400" rtl="0" algn="l">
              <a:lnSpc>
                <a:spcPct val="115000"/>
              </a:lnSpc>
              <a:spcBef>
                <a:spcPts val="1200"/>
              </a:spcBef>
              <a:spcAft>
                <a:spcPts val="1200"/>
              </a:spcAft>
              <a:buNone/>
            </a:pPr>
            <a:r>
              <a:t/>
            </a:r>
            <a:endParaRPr sz="1600">
              <a:solidFill>
                <a:schemeClr val="dk1"/>
              </a:solidFill>
              <a:latin typeface="DM Sans"/>
              <a:ea typeface="DM Sans"/>
              <a:cs typeface="DM Sans"/>
              <a:sym typeface="DM Sans"/>
            </a:endParaRPr>
          </a:p>
        </p:txBody>
      </p:sp>
      <p:sp>
        <p:nvSpPr>
          <p:cNvPr id="99" name="Google Shape;99;p16"/>
          <p:cNvSpPr txBox="1"/>
          <p:nvPr/>
        </p:nvSpPr>
        <p:spPr>
          <a:xfrm>
            <a:off x="573550" y="7677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Agenda</a:t>
            </a:r>
            <a:endParaRPr sz="2200"/>
          </a:p>
        </p:txBody>
      </p:sp>
      <p:pic>
        <p:nvPicPr>
          <p:cNvPr id="100" name="Google Shape;100;p16"/>
          <p:cNvPicPr preferRelativeResize="0"/>
          <p:nvPr/>
        </p:nvPicPr>
        <p:blipFill>
          <a:blip r:embed="rId3">
            <a:alphaModFix/>
          </a:blip>
          <a:stretch>
            <a:fillRect/>
          </a:stretch>
        </p:blipFill>
        <p:spPr>
          <a:xfrm>
            <a:off x="5653650" y="1723475"/>
            <a:ext cx="3109775" cy="3109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394350" y="1029175"/>
            <a:ext cx="8355300" cy="2720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This unit introduces the </a:t>
            </a:r>
            <a:r>
              <a:rPr b="1" lang="en-IN" sz="1600">
                <a:solidFill>
                  <a:schemeClr val="dk1"/>
                </a:solidFill>
                <a:latin typeface="DM Sans"/>
                <a:ea typeface="DM Sans"/>
                <a:cs typeface="DM Sans"/>
                <a:sym typeface="DM Sans"/>
              </a:rPr>
              <a:t>Greedy approach and advanced Dynamic Programming techniques</a:t>
            </a:r>
            <a:r>
              <a:rPr lang="en-IN" sz="1600">
                <a:solidFill>
                  <a:schemeClr val="dk1"/>
                </a:solidFill>
                <a:latin typeface="DM Sans"/>
                <a:ea typeface="DM Sans"/>
                <a:cs typeface="DM Sans"/>
                <a:sym typeface="DM Sans"/>
              </a:rPr>
              <a:t> used to solve optimization problems efficiently. Students will learn how greedy algorithms make optimal choices step by step and how advanced DP techniques solve complex problems involving trees, subsets, and segments.</a:t>
            </a:r>
            <a:endParaRPr sz="1600">
              <a:solidFill>
                <a:schemeClr val="dk1"/>
              </a:solidFill>
              <a:latin typeface="DM Sans"/>
              <a:ea typeface="DM Sans"/>
              <a:cs typeface="DM Sans"/>
              <a:sym typeface="DM Sans"/>
            </a:endParaRPr>
          </a:p>
          <a:p>
            <a:pPr indent="0" lvl="0" marL="0" rtl="0" algn="just">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These concepts are useful in real-world applications like scheduling, route optimization, and decision-making systems.</a:t>
            </a:r>
            <a:endParaRPr sz="1600">
              <a:solidFill>
                <a:schemeClr val="dk1"/>
              </a:solidFill>
              <a:latin typeface="DM Sans"/>
              <a:ea typeface="DM Sans"/>
              <a:cs typeface="DM Sans"/>
              <a:sym typeface="DM Sans"/>
            </a:endParaRPr>
          </a:p>
          <a:p>
            <a:pPr indent="0" lvl="0" marL="0" rtl="0" algn="just">
              <a:lnSpc>
                <a:spcPct val="150000"/>
              </a:lnSpc>
              <a:spcBef>
                <a:spcPts val="3400"/>
              </a:spcBef>
              <a:spcAft>
                <a:spcPts val="3400"/>
              </a:spcAft>
              <a:buNone/>
            </a:pPr>
            <a:r>
              <a:t/>
            </a:r>
            <a:endParaRPr sz="1600">
              <a:solidFill>
                <a:schemeClr val="dk1"/>
              </a:solidFill>
              <a:latin typeface="DM Sans"/>
              <a:ea typeface="DM Sans"/>
              <a:cs typeface="DM Sans"/>
              <a:sym typeface="DM Sans"/>
            </a:endParaRPr>
          </a:p>
        </p:txBody>
      </p:sp>
      <p:sp>
        <p:nvSpPr>
          <p:cNvPr id="106" name="Google Shape;106;p17"/>
          <p:cNvSpPr txBox="1"/>
          <p:nvPr/>
        </p:nvSpPr>
        <p:spPr>
          <a:xfrm>
            <a:off x="196925" y="76775"/>
            <a:ext cx="4840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Unit </a:t>
            </a:r>
            <a:r>
              <a:rPr b="1" lang="en-IN" sz="2200">
                <a:solidFill>
                  <a:srgbClr val="099F4E"/>
                </a:solidFill>
                <a:latin typeface="DM Sans"/>
                <a:ea typeface="DM Sans"/>
                <a:cs typeface="DM Sans"/>
                <a:sym typeface="DM Sans"/>
              </a:rPr>
              <a:t>Overview</a:t>
            </a:r>
            <a:r>
              <a:rPr b="1" lang="en-IN" sz="2200">
                <a:solidFill>
                  <a:srgbClr val="099F4E"/>
                </a:solidFill>
                <a:latin typeface="DM Sans"/>
                <a:ea typeface="DM Sans"/>
                <a:cs typeface="DM Sans"/>
                <a:sym typeface="DM Sans"/>
              </a:rPr>
              <a:t>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13" name="Google Shape;113;p18"/>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What is Greedy Algorithm?</a:t>
            </a:r>
            <a:endParaRPr sz="2200"/>
          </a:p>
        </p:txBody>
      </p:sp>
      <p:sp>
        <p:nvSpPr>
          <p:cNvPr id="114" name="Google Shape;114;p18"/>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A Greedy algorithm makes the </a:t>
            </a:r>
            <a:r>
              <a:rPr b="1" lang="en-IN" sz="1600">
                <a:solidFill>
                  <a:schemeClr val="dk1"/>
                </a:solidFill>
                <a:latin typeface="DM Sans"/>
                <a:ea typeface="DM Sans"/>
                <a:cs typeface="DM Sans"/>
                <a:sym typeface="DM Sans"/>
              </a:rPr>
              <a:t>best choice at each step</a:t>
            </a:r>
            <a:r>
              <a:rPr lang="en-IN" sz="1600">
                <a:solidFill>
                  <a:schemeClr val="dk1"/>
                </a:solidFill>
                <a:latin typeface="DM Sans"/>
                <a:ea typeface="DM Sans"/>
                <a:cs typeface="DM Sans"/>
                <a:sym typeface="DM Sans"/>
              </a:rPr>
              <a:t> hoping it leads to a global optimal solution.</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It does not reconsider past choices.</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When to Use Greedy?</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Greedy works when:</a:t>
            </a:r>
            <a:endParaRPr sz="1600">
              <a:solidFill>
                <a:schemeClr val="dk1"/>
              </a:solidFill>
              <a:latin typeface="DM Sans"/>
              <a:ea typeface="DM Sans"/>
              <a:cs typeface="DM Sans"/>
              <a:sym typeface="DM Sans"/>
            </a:endParaRPr>
          </a:p>
          <a:p>
            <a:pPr indent="-330200" lvl="0" marL="457200" rtl="0" algn="l">
              <a:lnSpc>
                <a:spcPct val="115000"/>
              </a:lnSpc>
              <a:spcBef>
                <a:spcPts val="1200"/>
              </a:spcBef>
              <a:spcAft>
                <a:spcPts val="0"/>
              </a:spcAft>
              <a:buClr>
                <a:schemeClr val="dk1"/>
              </a:buClr>
              <a:buSzPts val="1600"/>
              <a:buChar char="●"/>
            </a:pPr>
            <a:r>
              <a:rPr lang="en-IN" sz="1600">
                <a:solidFill>
                  <a:schemeClr val="dk1"/>
                </a:solidFill>
                <a:latin typeface="DM Sans"/>
                <a:ea typeface="DM Sans"/>
                <a:cs typeface="DM Sans"/>
                <a:sym typeface="DM Sans"/>
              </a:rPr>
              <a:t>Problem has </a:t>
            </a:r>
            <a:r>
              <a:rPr b="1" lang="en-IN" sz="1600">
                <a:solidFill>
                  <a:schemeClr val="dk1"/>
                </a:solidFill>
                <a:latin typeface="DM Sans"/>
                <a:ea typeface="DM Sans"/>
                <a:cs typeface="DM Sans"/>
                <a:sym typeface="DM Sans"/>
              </a:rPr>
              <a:t>Greedy Choice Property</a:t>
            </a:r>
            <a:br>
              <a:rPr b="1" lang="en-IN" sz="1600">
                <a:solidFill>
                  <a:schemeClr val="dk1"/>
                </a:solidFill>
                <a:latin typeface="DM Sans"/>
                <a:ea typeface="DM Sans"/>
                <a:cs typeface="DM Sans"/>
                <a:sym typeface="DM Sans"/>
              </a:rPr>
            </a:br>
            <a:endParaRPr b="1"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Char char="●"/>
            </a:pPr>
            <a:r>
              <a:rPr lang="en-IN" sz="1600">
                <a:solidFill>
                  <a:schemeClr val="dk1"/>
                </a:solidFill>
                <a:latin typeface="DM Sans"/>
                <a:ea typeface="DM Sans"/>
                <a:cs typeface="DM Sans"/>
                <a:sym typeface="DM Sans"/>
              </a:rPr>
              <a:t>Problem has </a:t>
            </a:r>
            <a:r>
              <a:rPr b="1" lang="en-IN" sz="1600">
                <a:solidFill>
                  <a:schemeClr val="dk1"/>
                </a:solidFill>
                <a:latin typeface="DM Sans"/>
                <a:ea typeface="DM Sans"/>
                <a:cs typeface="DM Sans"/>
                <a:sym typeface="DM Sans"/>
              </a:rPr>
              <a:t>Optimal Substructure</a:t>
            </a:r>
            <a:endParaRPr b="1"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21" name="Google Shape;121;p19"/>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What is Greedy Algorithm?</a:t>
            </a:r>
            <a:endParaRPr sz="2200"/>
          </a:p>
        </p:txBody>
      </p:sp>
      <p:sp>
        <p:nvSpPr>
          <p:cNvPr id="122" name="Google Shape;122;p19"/>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pic>
        <p:nvPicPr>
          <p:cNvPr id="123" name="Google Shape;123;p19"/>
          <p:cNvPicPr preferRelativeResize="0"/>
          <p:nvPr/>
        </p:nvPicPr>
        <p:blipFill>
          <a:blip r:embed="rId3">
            <a:alphaModFix/>
          </a:blip>
          <a:stretch>
            <a:fillRect/>
          </a:stretch>
        </p:blipFill>
        <p:spPr>
          <a:xfrm>
            <a:off x="2798375" y="833300"/>
            <a:ext cx="3547250" cy="3915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30" name="Google Shape;130;p20"/>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Activity Selection Problem</a:t>
            </a:r>
            <a:endParaRPr sz="2200"/>
          </a:p>
        </p:txBody>
      </p:sp>
      <p:sp>
        <p:nvSpPr>
          <p:cNvPr id="131" name="Google Shape;131;p20"/>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Sellect maximum number of non-overlapping activities.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Activities: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Start: 1 3 0 5 8 5</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End:   2 4 6 7 9 9</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Greedy Strategy</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Step 1: Sort by finish time</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Step 2: Always pick activity that finishes first</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Selected activities: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rgbClr val="188038"/>
                </a:solidFill>
                <a:latin typeface="DM Sans"/>
                <a:ea typeface="DM Sans"/>
                <a:cs typeface="DM Sans"/>
                <a:sym typeface="DM Sans"/>
              </a:rPr>
              <a:t>(1,2), (3,4), (5,7), (8,9)</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38" name="Google Shape;138;p21"/>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Coin Change (Greedy)</a:t>
            </a:r>
            <a:endParaRPr sz="2200"/>
          </a:p>
        </p:txBody>
      </p:sp>
      <p:sp>
        <p:nvSpPr>
          <p:cNvPr id="139" name="Google Shape;139;p21"/>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Coins: 1, 5, 10, 25</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Amount = 30</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Greedy approach:</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25 + 5 = 30</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Minimum coins = 2</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Note: Greedy does NOT always work for all coin systems.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46" name="Google Shape;146;p22"/>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DP on Trees</a:t>
            </a:r>
            <a:endParaRPr sz="2200"/>
          </a:p>
        </p:txBody>
      </p:sp>
      <p:sp>
        <p:nvSpPr>
          <p:cNvPr id="147" name="Google Shape;147;p22"/>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Dynamic Programming applied on tree structures.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Used when:</a:t>
            </a:r>
            <a:endParaRPr sz="1600">
              <a:solidFill>
                <a:schemeClr val="dk1"/>
              </a:solidFill>
              <a:latin typeface="DM Sans"/>
              <a:ea typeface="DM Sans"/>
              <a:cs typeface="DM Sans"/>
              <a:sym typeface="DM Sans"/>
            </a:endParaRPr>
          </a:p>
          <a:p>
            <a:pPr indent="-298450" lvl="0" marL="4572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Problem involves subtree values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Parent-child dependency exists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54" name="Google Shape;154;p23"/>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Maximum Sum of Non-Adjacent Nodes</a:t>
            </a:r>
            <a:endParaRPr sz="2200"/>
          </a:p>
        </p:txBody>
      </p:sp>
      <p:sp>
        <p:nvSpPr>
          <p:cNvPr id="155" name="Google Shape;155;p23"/>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Tree:</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      10</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1    2</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3   4</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Rule: Cannot select parent and child together.</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Logic</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For each node: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Include node value + grandchildren</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Exclude node → take children</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62" name="Google Shape;162;p24"/>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DP with Bitmasking</a:t>
            </a:r>
            <a:endParaRPr sz="2200"/>
          </a:p>
        </p:txBody>
      </p:sp>
      <p:sp>
        <p:nvSpPr>
          <p:cNvPr id="163" name="Google Shape;163;p24"/>
          <p:cNvSpPr txBox="1"/>
          <p:nvPr/>
        </p:nvSpPr>
        <p:spPr>
          <a:xfrm>
            <a:off x="196925" y="991475"/>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Bitmasking represents subsets using binary numbers.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For 3 elements: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000 → empty</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001 → {A}</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010 → {B}</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011 → {A,B}</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When to Use?</a:t>
            </a:r>
            <a:endParaRPr b="1" sz="1600">
              <a:solidFill>
                <a:schemeClr val="dk1"/>
              </a:solidFill>
              <a:latin typeface="DM Sans"/>
              <a:ea typeface="DM Sans"/>
              <a:cs typeface="DM Sans"/>
              <a:sym typeface="DM Sans"/>
            </a:endParaRPr>
          </a:p>
          <a:p>
            <a:pPr indent="-330200" lvl="0" marL="457200" rtl="0" algn="l">
              <a:lnSpc>
                <a:spcPct val="115000"/>
              </a:lnSpc>
              <a:spcBef>
                <a:spcPts val="120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Small N (≤ 20)</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Subset problems</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Traveling Salesman Problem (TSP)</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70" name="Google Shape;170;p25"/>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Traveling Salesman Problem (DP + Bitmask)</a:t>
            </a:r>
            <a:endParaRPr sz="2200"/>
          </a:p>
        </p:txBody>
      </p:sp>
      <p:sp>
        <p:nvSpPr>
          <p:cNvPr id="171" name="Google Shape;171;p25"/>
          <p:cNvSpPr txBox="1"/>
          <p:nvPr/>
        </p:nvSpPr>
        <p:spPr>
          <a:xfrm>
            <a:off x="196925" y="991475"/>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Idea:</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dp[mask][i] = minimum cost to reach node i using visited set mask.</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Time Complexity:</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O(n² × 2^n)</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Used in:</a:t>
            </a:r>
            <a:endParaRPr sz="1600">
              <a:solidFill>
                <a:schemeClr val="dk1"/>
              </a:solidFill>
              <a:latin typeface="DM Sans"/>
              <a:ea typeface="DM Sans"/>
              <a:cs typeface="DM Sans"/>
              <a:sym typeface="DM Sans"/>
            </a:endParaRPr>
          </a:p>
          <a:p>
            <a:pPr indent="-330200" lvl="0" marL="457200" rtl="0" algn="l">
              <a:lnSpc>
                <a:spcPct val="115000"/>
              </a:lnSpc>
              <a:spcBef>
                <a:spcPts val="120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Route planning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IN" sz="1600">
                <a:solidFill>
                  <a:schemeClr val="dk1"/>
                </a:solidFill>
                <a:latin typeface="DM Sans"/>
                <a:ea typeface="DM Sans"/>
                <a:cs typeface="DM Sans"/>
                <a:sym typeface="DM Sans"/>
              </a:rPr>
              <a:t>Optimization problems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78" name="Google Shape;178;p26"/>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DP with Segments</a:t>
            </a:r>
            <a:endParaRPr sz="2200"/>
          </a:p>
        </p:txBody>
      </p:sp>
      <p:sp>
        <p:nvSpPr>
          <p:cNvPr id="179" name="Google Shape;179;p26"/>
          <p:cNvSpPr txBox="1"/>
          <p:nvPr/>
        </p:nvSpPr>
        <p:spPr>
          <a:xfrm>
            <a:off x="196925" y="991475"/>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Used when:</a:t>
            </a:r>
            <a:endParaRPr sz="1600">
              <a:solidFill>
                <a:schemeClr val="dk1"/>
              </a:solidFill>
              <a:latin typeface="DM Sans"/>
              <a:ea typeface="DM Sans"/>
              <a:cs typeface="DM Sans"/>
              <a:sym typeface="DM Sans"/>
            </a:endParaRPr>
          </a:p>
          <a:p>
            <a:pPr indent="-298450" lvl="0" marL="4572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Problem can be divided into continuous ranges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Involves intervals or segments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 problems:</a:t>
            </a:r>
            <a:endParaRPr sz="1600">
              <a:solidFill>
                <a:schemeClr val="dk1"/>
              </a:solidFill>
              <a:latin typeface="DM Sans"/>
              <a:ea typeface="DM Sans"/>
              <a:cs typeface="DM Sans"/>
              <a:sym typeface="DM Sans"/>
            </a:endParaRPr>
          </a:p>
          <a:p>
            <a:pPr indent="-298450" lvl="0" marL="4572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Matrix chain multiplication</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Partitioning array</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Interval scheduling</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86" name="Google Shape;186;p27"/>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Maximum Subarray (Kadane’s Algorithm)</a:t>
            </a:r>
            <a:endParaRPr sz="2200"/>
          </a:p>
        </p:txBody>
      </p:sp>
      <p:sp>
        <p:nvSpPr>
          <p:cNvPr id="187" name="Google Shape;187;p27"/>
          <p:cNvSpPr txBox="1"/>
          <p:nvPr/>
        </p:nvSpPr>
        <p:spPr>
          <a:xfrm>
            <a:off x="196925" y="991475"/>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Given:</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[-2,1,-3,4,-1,2,1,-5,4]</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Find maximum sum of contiguous segment.</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t/>
            </a:r>
            <a:endParaRPr sz="1600">
              <a:solidFill>
                <a:schemeClr val="dk1"/>
              </a:solidFill>
              <a:latin typeface="DM Sans"/>
              <a:ea typeface="DM Sans"/>
              <a:cs typeface="DM Sans"/>
              <a:sym typeface="DM Sans"/>
            </a:endParaRPr>
          </a:p>
        </p:txBody>
      </p:sp>
      <p:sp>
        <p:nvSpPr>
          <p:cNvPr id="188" name="Google Shape;188;p27"/>
          <p:cNvSpPr txBox="1"/>
          <p:nvPr/>
        </p:nvSpPr>
        <p:spPr>
          <a:xfrm>
            <a:off x="4975600" y="895775"/>
            <a:ext cx="4614300" cy="396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1600">
                <a:solidFill>
                  <a:schemeClr val="dk1"/>
                </a:solidFill>
                <a:latin typeface="DM Sans"/>
                <a:ea typeface="DM Sans"/>
                <a:cs typeface="DM Sans"/>
                <a:sym typeface="DM Sans"/>
              </a:rPr>
              <a:t>Python Example</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def max_subarray(arr):</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current = arr[0]</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maximum = arr[0]</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for i in range(1,len(arr)):</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current = max(arr[i], current + arr[i])</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maximum = max(maximum, current)</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return maximum</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arr = [-2,1,-3,4,-1,2,1,-5,4]</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print(max_subarray(arr))</a:t>
            </a:r>
            <a:endParaRPr sz="1600">
              <a:solidFill>
                <a:srgbClr val="188038"/>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195" name="Google Shape;195;p28"/>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Real-World Applications</a:t>
            </a:r>
            <a:endParaRPr sz="2200"/>
          </a:p>
        </p:txBody>
      </p:sp>
      <p:sp>
        <p:nvSpPr>
          <p:cNvPr id="196" name="Google Shape;196;p28"/>
          <p:cNvSpPr txBox="1"/>
          <p:nvPr/>
        </p:nvSpPr>
        <p:spPr>
          <a:xfrm>
            <a:off x="196925" y="991475"/>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IN" sz="1600">
                <a:solidFill>
                  <a:schemeClr val="dk1"/>
                </a:solidFill>
                <a:latin typeface="DM Sans"/>
                <a:ea typeface="DM Sans"/>
                <a:cs typeface="DM Sans"/>
                <a:sym typeface="DM Sans"/>
              </a:rPr>
              <a:t>Greedy:</a:t>
            </a:r>
            <a:endParaRPr sz="1600">
              <a:solidFill>
                <a:schemeClr val="dk1"/>
              </a:solidFill>
              <a:latin typeface="DM Sans"/>
              <a:ea typeface="DM Sans"/>
              <a:cs typeface="DM Sans"/>
              <a:sym typeface="DM Sans"/>
            </a:endParaRPr>
          </a:p>
          <a:p>
            <a:pPr indent="-298450" lvl="0" marL="457200" rtl="0" algn="l">
              <a:lnSpc>
                <a:spcPct val="100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Scheduling</a:t>
            </a:r>
            <a:endParaRPr sz="1600">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Network routing</a:t>
            </a:r>
            <a:endParaRPr sz="1600">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Resource allocation</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0" lvl="0" marL="0" rtl="0" algn="l">
              <a:lnSpc>
                <a:spcPct val="100000"/>
              </a:lnSpc>
              <a:spcBef>
                <a:spcPts val="1200"/>
              </a:spcBef>
              <a:spcAft>
                <a:spcPts val="0"/>
              </a:spcAft>
              <a:buNone/>
            </a:pPr>
            <a:r>
              <a:rPr lang="en-IN" sz="1600">
                <a:solidFill>
                  <a:schemeClr val="dk1"/>
                </a:solidFill>
                <a:latin typeface="DM Sans"/>
                <a:ea typeface="DM Sans"/>
                <a:cs typeface="DM Sans"/>
                <a:sym typeface="DM Sans"/>
              </a:rPr>
              <a:t>Advanced DP:</a:t>
            </a:r>
            <a:endParaRPr sz="1600">
              <a:solidFill>
                <a:schemeClr val="dk1"/>
              </a:solidFill>
              <a:latin typeface="DM Sans"/>
              <a:ea typeface="DM Sans"/>
              <a:cs typeface="DM Sans"/>
              <a:sym typeface="DM Sans"/>
            </a:endParaRPr>
          </a:p>
          <a:p>
            <a:pPr indent="-298450" lvl="0" marL="457200" rtl="0" algn="l">
              <a:lnSpc>
                <a:spcPct val="100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Game strategy optimization</a:t>
            </a:r>
            <a:endParaRPr sz="1600">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Robotics</a:t>
            </a:r>
            <a:endParaRPr sz="1600">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AI decision systems</a:t>
            </a:r>
            <a:endParaRPr sz="1600">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Financial optimization</a:t>
            </a:r>
            <a:endParaRPr sz="1600">
              <a:solidFill>
                <a:schemeClr val="dk1"/>
              </a:solidFill>
              <a:latin typeface="DM Sans"/>
              <a:ea typeface="DM Sans"/>
              <a:cs typeface="DM Sans"/>
              <a:sym typeface="DM Sans"/>
            </a:endParaRPr>
          </a:p>
          <a:p>
            <a:pPr indent="0" lvl="0" marL="0" rtl="0" algn="l">
              <a:lnSpc>
                <a:spcPct val="100000"/>
              </a:lnSpc>
              <a:spcBef>
                <a:spcPts val="1200"/>
              </a:spcBef>
              <a:spcAft>
                <a:spcPts val="120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03" name="Google Shape;203;p29"/>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Why Dynamic Programming?</a:t>
            </a:r>
            <a:endParaRPr sz="2200"/>
          </a:p>
        </p:txBody>
      </p:sp>
      <p:sp>
        <p:nvSpPr>
          <p:cNvPr id="204" name="Google Shape;204;p29"/>
          <p:cNvSpPr txBox="1"/>
          <p:nvPr/>
        </p:nvSpPr>
        <p:spPr>
          <a:xfrm>
            <a:off x="196925" y="1078550"/>
            <a:ext cx="8490000" cy="37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Some problems repeat the same calculations many times.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 Fibonacci</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Normal recursion:</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200">
                <a:solidFill>
                  <a:srgbClr val="188038"/>
                </a:solidFill>
                <a:latin typeface="DM Sans"/>
                <a:ea typeface="DM Sans"/>
                <a:cs typeface="DM Sans"/>
                <a:sym typeface="DM Sans"/>
              </a:rPr>
              <a:t>F(5)</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F(4)</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F(3)</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 F(2)</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 F(1)</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F(2)</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F(3)</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F(2)</a:t>
            </a:r>
            <a:endParaRPr sz="1200">
              <a:solidFill>
                <a:srgbClr val="188038"/>
              </a:solidFill>
              <a:latin typeface="DM Sans"/>
              <a:ea typeface="DM Sans"/>
              <a:cs typeface="DM Sans"/>
              <a:sym typeface="DM Sans"/>
            </a:endParaRPr>
          </a:p>
          <a:p>
            <a:pPr indent="0" lvl="0" marL="0" rtl="0" algn="l">
              <a:spcBef>
                <a:spcPts val="0"/>
              </a:spcBef>
              <a:spcAft>
                <a:spcPts val="0"/>
              </a:spcAft>
              <a:buNone/>
            </a:pPr>
            <a:r>
              <a:rPr lang="en-IN" sz="1200">
                <a:solidFill>
                  <a:srgbClr val="188038"/>
                </a:solidFill>
                <a:latin typeface="DM Sans"/>
                <a:ea typeface="DM Sans"/>
                <a:cs typeface="DM Sans"/>
                <a:sym typeface="DM Sans"/>
              </a:rPr>
              <a:t>    └── F(1)</a:t>
            </a:r>
            <a:endParaRPr sz="1200">
              <a:solidFill>
                <a:srgbClr val="188038"/>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Here F(3) and F(2) are calculated multiple times.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DP solves this problem by storing results.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11" name="Google Shape;211;p30"/>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Key Concepts of DP</a:t>
            </a:r>
            <a:endParaRPr sz="2200"/>
          </a:p>
        </p:txBody>
      </p:sp>
      <p:sp>
        <p:nvSpPr>
          <p:cNvPr id="212" name="Google Shape;212;p30"/>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Two important properties:</a:t>
            </a:r>
            <a:endParaRPr sz="1600">
              <a:solidFill>
                <a:schemeClr val="dk1"/>
              </a:solidFill>
              <a:latin typeface="DM Sans"/>
              <a:ea typeface="DM Sans"/>
              <a:cs typeface="DM Sans"/>
              <a:sym typeface="DM Sans"/>
            </a:endParaRPr>
          </a:p>
          <a:p>
            <a:pPr indent="0" lvl="0" marL="0" rtl="0" algn="l">
              <a:lnSpc>
                <a:spcPct val="115000"/>
              </a:lnSpc>
              <a:spcBef>
                <a:spcPts val="14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1. Overlapping Subproblems</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Same problem solved multiple times.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F(3) calculated again and again.</a:t>
            </a:r>
            <a:endParaRPr sz="1600">
              <a:solidFill>
                <a:schemeClr val="dk1"/>
              </a:solidFill>
              <a:latin typeface="DM Sans"/>
              <a:ea typeface="DM Sans"/>
              <a:cs typeface="DM Sans"/>
              <a:sym typeface="DM Sans"/>
            </a:endParaRPr>
          </a:p>
          <a:p>
            <a:pPr indent="0" lvl="0" marL="0" rtl="0" algn="l">
              <a:lnSpc>
                <a:spcPct val="115000"/>
              </a:lnSpc>
              <a:spcBef>
                <a:spcPts val="14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2. Optimal Substructure</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Optimal solution can be built from optimal subproblems.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rgbClr val="188038"/>
                </a:solidFill>
                <a:latin typeface="DM Sans"/>
                <a:ea typeface="DM Sans"/>
                <a:cs typeface="DM Sans"/>
                <a:sym typeface="DM Sans"/>
              </a:rPr>
              <a:t>F(n) = F(n−1) + F(n−2)</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19" name="Google Shape;219;p31"/>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Key Concepts of DP</a:t>
            </a:r>
            <a:endParaRPr sz="2200"/>
          </a:p>
        </p:txBody>
      </p:sp>
      <p:sp>
        <p:nvSpPr>
          <p:cNvPr id="220" name="Google Shape;220;p31"/>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Fibonacci Problem Example</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Fibonacci sequence:</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0, 1, 1, 2, 3, 5, 8, 13</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Formula:</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rgbClr val="188038"/>
                </a:solidFill>
                <a:latin typeface="DM Sans"/>
                <a:ea typeface="DM Sans"/>
                <a:cs typeface="DM Sans"/>
                <a:sym typeface="DM Sans"/>
              </a:rPr>
              <a:t>F(n) = F(n−1) + F(n−2)</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27" name="Google Shape;227;p32"/>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Key Concepts of DP</a:t>
            </a:r>
            <a:endParaRPr sz="2200"/>
          </a:p>
        </p:txBody>
      </p:sp>
      <p:sp>
        <p:nvSpPr>
          <p:cNvPr id="228" name="Google Shape;228;p32"/>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Recursive Solution (Without DP)</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Python example:</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def fibonacci(n):</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if n &lt;= 1:</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return n</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    return fibonacci(n-1) + fibonacci(n-2)</a:t>
            </a:r>
            <a:endParaRPr sz="1600">
              <a:solidFill>
                <a:srgbClr val="188038"/>
              </a:solidFill>
              <a:latin typeface="DM Sans"/>
              <a:ea typeface="DM Sans"/>
              <a:cs typeface="DM Sans"/>
              <a:sym typeface="DM Sans"/>
            </a:endParaRPr>
          </a:p>
          <a:p>
            <a:pPr indent="0" lvl="0" marL="0" rtl="0" algn="l">
              <a:spcBef>
                <a:spcPts val="0"/>
              </a:spcBef>
              <a:spcAft>
                <a:spcPts val="0"/>
              </a:spcAft>
              <a:buNone/>
            </a:pPr>
            <a:r>
              <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print(fibonacci(5))</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Output:</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5</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b="1" sz="1600">
              <a:solidFill>
                <a:schemeClr val="dk1"/>
              </a:solidFill>
              <a:latin typeface="DM Sans"/>
              <a:ea typeface="DM Sans"/>
              <a:cs typeface="DM Sans"/>
              <a:sym typeface="DM Sans"/>
            </a:endParaRPr>
          </a:p>
        </p:txBody>
      </p:sp>
      <p:sp>
        <p:nvSpPr>
          <p:cNvPr id="229" name="Google Shape;229;p32"/>
          <p:cNvSpPr txBox="1"/>
          <p:nvPr/>
        </p:nvSpPr>
        <p:spPr>
          <a:xfrm>
            <a:off x="5357175" y="941200"/>
            <a:ext cx="3000000" cy="19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1600">
                <a:solidFill>
                  <a:schemeClr val="dk1"/>
                </a:solidFill>
                <a:latin typeface="DM Sans"/>
                <a:ea typeface="DM Sans"/>
                <a:cs typeface="DM Sans"/>
                <a:sym typeface="DM Sans"/>
              </a:rPr>
              <a:t>Problem with Recursion</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lang="en-IN" sz="1600">
                <a:solidFill>
                  <a:schemeClr val="dk1"/>
                </a:solidFill>
                <a:latin typeface="DM Sans"/>
                <a:ea typeface="DM Sans"/>
                <a:cs typeface="DM Sans"/>
                <a:sym typeface="DM Sans"/>
              </a:rPr>
              <a:t>Time Complexity:</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O(2^n)</a:t>
            </a:r>
            <a:endParaRPr sz="1600">
              <a:solidFill>
                <a:srgbClr val="188038"/>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rPr lang="en-IN" sz="1600">
                <a:solidFill>
                  <a:schemeClr val="dk1"/>
                </a:solidFill>
                <a:latin typeface="DM Sans"/>
                <a:ea typeface="DM Sans"/>
                <a:cs typeface="DM Sans"/>
                <a:sym typeface="DM Sans"/>
              </a:rPr>
              <a:t>Very slow for large 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36" name="Google Shape;236;p33"/>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Memoization (Top-Down Approach)</a:t>
            </a:r>
            <a:endParaRPr sz="2200"/>
          </a:p>
        </p:txBody>
      </p:sp>
      <p:sp>
        <p:nvSpPr>
          <p:cNvPr id="237" name="Google Shape;237;p33"/>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Memoization stores results of function calls and reuses them when needed.</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Avoids repeated calculations.</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How Memoization Works</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Step 1: Check if result already exists</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Step 2: If yes → return result</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Step 3: If no → calculate and store</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b="1" sz="1600">
              <a:solidFill>
                <a:schemeClr val="dk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44" name="Google Shape;244;p34"/>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Memoization (Top-Down Approach)</a:t>
            </a:r>
            <a:endParaRPr sz="2200"/>
          </a:p>
        </p:txBody>
      </p:sp>
      <p:sp>
        <p:nvSpPr>
          <p:cNvPr id="245" name="Google Shape;245;p34"/>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Memoization Visualization</a:t>
            </a:r>
            <a:endParaRPr b="1" sz="1600">
              <a:solidFill>
                <a:schemeClr val="dk1"/>
              </a:solidFill>
              <a:latin typeface="DM Sans"/>
              <a:ea typeface="DM Sans"/>
              <a:cs typeface="DM Sans"/>
              <a:sym typeface="DM Sans"/>
            </a:endParaRPr>
          </a:p>
          <a:p>
            <a:pPr indent="0" lvl="0" marL="457200" rtl="0" algn="l">
              <a:spcBef>
                <a:spcPts val="400"/>
              </a:spcBef>
              <a:spcAft>
                <a:spcPts val="0"/>
              </a:spcAft>
              <a:buNone/>
            </a:pPr>
            <a:r>
              <a:rPr lang="en-IN">
                <a:solidFill>
                  <a:srgbClr val="188038"/>
                </a:solidFill>
                <a:latin typeface="DM Sans"/>
                <a:ea typeface="DM Sans"/>
                <a:cs typeface="DM Sans"/>
                <a:sym typeface="DM Sans"/>
              </a:rPr>
              <a:t>memo = {</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0:0,</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1:1,</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2:1,</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3:2,</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4:3,</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5:5,</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6:8</a:t>
            </a:r>
            <a:endParaRPr>
              <a:solidFill>
                <a:srgbClr val="188038"/>
              </a:solidFill>
              <a:latin typeface="DM Sans"/>
              <a:ea typeface="DM Sans"/>
              <a:cs typeface="DM Sans"/>
              <a:sym typeface="DM Sans"/>
            </a:endParaRPr>
          </a:p>
          <a:p>
            <a:pPr indent="0" lvl="0" marL="457200" rtl="0" algn="l">
              <a:spcBef>
                <a:spcPts val="0"/>
              </a:spcBef>
              <a:spcAft>
                <a:spcPts val="0"/>
              </a:spcAft>
              <a:buNone/>
            </a:pPr>
            <a:r>
              <a:rPr lang="en-IN">
                <a:solidFill>
                  <a:srgbClr val="188038"/>
                </a:solidFill>
                <a:latin typeface="DM Sans"/>
                <a:ea typeface="DM Sans"/>
                <a:cs typeface="DM Sans"/>
                <a:sym typeface="DM Sans"/>
              </a:rPr>
              <a:t>}</a:t>
            </a:r>
            <a:endParaRPr>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Stored values reused.</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Time Complexity</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rgbClr val="188038"/>
                </a:solidFill>
                <a:latin typeface="DM Sans"/>
                <a:ea typeface="DM Sans"/>
                <a:cs typeface="DM Sans"/>
                <a:sym typeface="DM Sans"/>
              </a:rPr>
              <a:t>O(n)</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Much faster than recursion.</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52" name="Google Shape;252;p35"/>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Tabulation (Bottom-Up Approach)</a:t>
            </a:r>
            <a:endParaRPr sz="2200"/>
          </a:p>
        </p:txBody>
      </p:sp>
      <p:sp>
        <p:nvSpPr>
          <p:cNvPr id="253" name="Google Shape;253;p35"/>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Tabulation solves problem from bottom and stores results in table.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Starts from smallest value.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DM Sans"/>
                <a:ea typeface="DM Sans"/>
                <a:cs typeface="DM Sans"/>
                <a:sym typeface="DM Sans"/>
              </a:rPr>
              <a:t>How Tabulation Works</a:t>
            </a:r>
            <a:endParaRPr b="1"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Step 1: Create table</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Step 2: Fill values from beginning</a:t>
            </a:r>
            <a:br>
              <a:rPr lang="en-IN" sz="1600">
                <a:solidFill>
                  <a:schemeClr val="dk1"/>
                </a:solidFill>
                <a:latin typeface="DM Sans"/>
                <a:ea typeface="DM Sans"/>
                <a:cs typeface="DM Sans"/>
                <a:sym typeface="DM Sans"/>
              </a:rPr>
            </a:br>
            <a:r>
              <a:rPr lang="en-IN" sz="1600">
                <a:solidFill>
                  <a:schemeClr val="dk1"/>
                </a:solidFill>
                <a:latin typeface="DM Sans"/>
                <a:ea typeface="DM Sans"/>
                <a:cs typeface="DM Sans"/>
                <a:sym typeface="DM Sans"/>
              </a:rPr>
              <a:t> Step 3: Use stored values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b="1" sz="1600">
              <a:solidFill>
                <a:schemeClr val="dk1"/>
              </a:solidFill>
              <a:latin typeface="DM Sans"/>
              <a:ea typeface="DM Sans"/>
              <a:cs typeface="DM Sans"/>
              <a:sym typeface="DM Sans"/>
            </a:endParaRPr>
          </a:p>
        </p:txBody>
      </p:sp>
      <p:sp>
        <p:nvSpPr>
          <p:cNvPr id="254" name="Google Shape;254;p35"/>
          <p:cNvSpPr txBox="1"/>
          <p:nvPr/>
        </p:nvSpPr>
        <p:spPr>
          <a:xfrm>
            <a:off x="5418225" y="2274150"/>
            <a:ext cx="3000000" cy="238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1600">
                <a:solidFill>
                  <a:schemeClr val="dk1"/>
                </a:solidFill>
                <a:latin typeface="DM Sans"/>
                <a:ea typeface="DM Sans"/>
                <a:cs typeface="DM Sans"/>
                <a:sym typeface="DM Sans"/>
              </a:rPr>
              <a:t>Table Visualization</a:t>
            </a:r>
            <a:endParaRPr b="1" sz="1600">
              <a:solidFill>
                <a:schemeClr val="dk1"/>
              </a:solidFill>
              <a:latin typeface="DM Sans"/>
              <a:ea typeface="DM Sans"/>
              <a:cs typeface="DM Sans"/>
              <a:sym typeface="DM Sans"/>
            </a:endParaRPr>
          </a:p>
          <a:p>
            <a:pPr indent="0" lvl="0" marL="0" rtl="0" algn="l">
              <a:spcBef>
                <a:spcPts val="400"/>
              </a:spcBef>
              <a:spcAft>
                <a:spcPts val="0"/>
              </a:spcAft>
              <a:buNone/>
            </a:pPr>
            <a:r>
              <a:rPr lang="en-IN" sz="1600">
                <a:solidFill>
                  <a:schemeClr val="dk1"/>
                </a:solidFill>
                <a:latin typeface="DM Sans"/>
                <a:ea typeface="DM Sans"/>
                <a:cs typeface="DM Sans"/>
                <a:sym typeface="DM Sans"/>
              </a:rPr>
              <a:t>Index:   0 1 2 3 4 5 6</a:t>
            </a:r>
            <a:endParaRPr sz="1600">
              <a:solidFill>
                <a:schemeClr val="dk1"/>
              </a:solidFill>
              <a:latin typeface="DM Sans"/>
              <a:ea typeface="DM Sans"/>
              <a:cs typeface="DM Sans"/>
              <a:sym typeface="DM Sans"/>
            </a:endParaRPr>
          </a:p>
          <a:p>
            <a:pPr indent="0" lvl="0" marL="0" rtl="0" algn="l">
              <a:spcBef>
                <a:spcPts val="0"/>
              </a:spcBef>
              <a:spcAft>
                <a:spcPts val="0"/>
              </a:spcAft>
              <a:buNone/>
            </a:pPr>
            <a:r>
              <a:rPr lang="en-IN" sz="1600">
                <a:solidFill>
                  <a:schemeClr val="dk1"/>
                </a:solidFill>
                <a:latin typeface="DM Sans"/>
                <a:ea typeface="DM Sans"/>
                <a:cs typeface="DM Sans"/>
                <a:sym typeface="DM Sans"/>
              </a:rPr>
              <a:t>Value:   0 1 1 2 3 5 8</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b="1" sz="1600">
              <a:solidFill>
                <a:schemeClr val="dk1"/>
              </a:solidFill>
              <a:latin typeface="DM Sans"/>
              <a:ea typeface="DM Sans"/>
              <a:cs typeface="DM Sans"/>
              <a:sym typeface="DM Sans"/>
            </a:endParaRPr>
          </a:p>
          <a:p>
            <a:pPr indent="0" lvl="0" marL="0" rtl="0" algn="l">
              <a:lnSpc>
                <a:spcPct val="115000"/>
              </a:lnSpc>
              <a:spcBef>
                <a:spcPts val="1800"/>
              </a:spcBef>
              <a:spcAft>
                <a:spcPts val="0"/>
              </a:spcAft>
              <a:buNone/>
            </a:pPr>
            <a:r>
              <a:rPr b="1" lang="en-IN" sz="1600">
                <a:solidFill>
                  <a:schemeClr val="dk1"/>
                </a:solidFill>
                <a:latin typeface="DM Sans"/>
                <a:ea typeface="DM Sans"/>
                <a:cs typeface="DM Sans"/>
                <a:sym typeface="DM Sans"/>
              </a:rPr>
              <a:t>Time Complexity</a:t>
            </a:r>
            <a:endParaRPr b="1" sz="1600">
              <a:solidFill>
                <a:schemeClr val="dk1"/>
              </a:solidFill>
              <a:latin typeface="DM Sans"/>
              <a:ea typeface="DM Sans"/>
              <a:cs typeface="DM Sans"/>
              <a:sym typeface="DM Sans"/>
            </a:endParaRPr>
          </a:p>
          <a:p>
            <a:pPr indent="0" lvl="0" marL="0" rtl="0" algn="l">
              <a:lnSpc>
                <a:spcPct val="115000"/>
              </a:lnSpc>
              <a:spcBef>
                <a:spcPts val="400"/>
              </a:spcBef>
              <a:spcAft>
                <a:spcPts val="0"/>
              </a:spcAft>
              <a:buNone/>
            </a:pPr>
            <a:r>
              <a:rPr lang="en-IN" sz="1600">
                <a:solidFill>
                  <a:schemeClr val="dk1"/>
                </a:solidFill>
                <a:latin typeface="DM Sans"/>
                <a:ea typeface="DM Sans"/>
                <a:cs typeface="DM Sans"/>
                <a:sym typeface="DM Sans"/>
              </a:rPr>
              <a:t>O(n)</a:t>
            </a:r>
            <a:endParaRPr sz="1600">
              <a:solidFill>
                <a:schemeClr val="dk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6"/>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61" name="Google Shape;261;p36"/>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p>
        </p:txBody>
      </p:sp>
      <p:sp>
        <p:nvSpPr>
          <p:cNvPr id="262" name="Google Shape;262;p36"/>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dk1"/>
              </a:solidFill>
              <a:latin typeface="DM Sans"/>
              <a:ea typeface="DM Sans"/>
              <a:cs typeface="DM Sans"/>
              <a:sym typeface="DM Sans"/>
            </a:endParaRPr>
          </a:p>
        </p:txBody>
      </p:sp>
      <p:pic>
        <p:nvPicPr>
          <p:cNvPr id="263" name="Google Shape;263;p36"/>
          <p:cNvPicPr preferRelativeResize="0"/>
          <p:nvPr/>
        </p:nvPicPr>
        <p:blipFill>
          <a:blip r:embed="rId3">
            <a:alphaModFix/>
          </a:blip>
          <a:stretch>
            <a:fillRect/>
          </a:stretch>
        </p:blipFill>
        <p:spPr>
          <a:xfrm>
            <a:off x="199838" y="1220563"/>
            <a:ext cx="8744314" cy="31594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70" name="Google Shape;270;p37"/>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Real-World Applications</a:t>
            </a:r>
            <a:endParaRPr sz="2200"/>
          </a:p>
        </p:txBody>
      </p:sp>
      <p:sp>
        <p:nvSpPr>
          <p:cNvPr id="271" name="Google Shape;271;p37"/>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Dynamic Programming used in:</a:t>
            </a:r>
            <a:endParaRPr sz="1600">
              <a:solidFill>
                <a:schemeClr val="dk1"/>
              </a:solidFill>
              <a:latin typeface="DM Sans"/>
              <a:ea typeface="DM Sans"/>
              <a:cs typeface="DM Sans"/>
              <a:sym typeface="DM Sans"/>
            </a:endParaRPr>
          </a:p>
          <a:p>
            <a:pPr indent="-298450" lvl="0" marL="4572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Shortest path algorithms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Google Maps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Resource optimization</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Game development</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Robot navigation</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78" name="Google Shape;278;p38"/>
          <p:cNvSpPr txBox="1"/>
          <p:nvPr/>
        </p:nvSpPr>
        <p:spPr>
          <a:xfrm>
            <a:off x="196925" y="310100"/>
            <a:ext cx="5753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Example Problem</a:t>
            </a:r>
            <a:endParaRPr sz="2200"/>
          </a:p>
        </p:txBody>
      </p:sp>
      <p:sp>
        <p:nvSpPr>
          <p:cNvPr id="279" name="Google Shape;279;p38"/>
          <p:cNvSpPr txBox="1"/>
          <p:nvPr/>
        </p:nvSpPr>
        <p:spPr>
          <a:xfrm>
            <a:off x="196925" y="941200"/>
            <a:ext cx="8490000" cy="39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You can climb 1 or 2 steps.</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Find number of ways to reach step n.</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Example:</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n = 4</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Ways:</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rPr lang="en-IN" sz="1600">
                <a:solidFill>
                  <a:srgbClr val="188038"/>
                </a:solidFill>
                <a:latin typeface="DM Sans"/>
                <a:ea typeface="DM Sans"/>
                <a:cs typeface="DM Sans"/>
                <a:sym typeface="DM Sans"/>
              </a:rPr>
              <a:t>1+1+1+1</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1+1+2</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1+2+1</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2+1+1</a:t>
            </a:r>
            <a:endParaRPr sz="1600">
              <a:solidFill>
                <a:srgbClr val="188038"/>
              </a:solidFill>
              <a:latin typeface="DM Sans"/>
              <a:ea typeface="DM Sans"/>
              <a:cs typeface="DM Sans"/>
              <a:sym typeface="DM Sans"/>
            </a:endParaRPr>
          </a:p>
          <a:p>
            <a:pPr indent="0" lvl="0" marL="0" rtl="0" algn="l">
              <a:spcBef>
                <a:spcPts val="0"/>
              </a:spcBef>
              <a:spcAft>
                <a:spcPts val="0"/>
              </a:spcAft>
              <a:buNone/>
            </a:pPr>
            <a:r>
              <a:rPr lang="en-IN" sz="1600">
                <a:solidFill>
                  <a:srgbClr val="188038"/>
                </a:solidFill>
                <a:latin typeface="DM Sans"/>
                <a:ea typeface="DM Sans"/>
                <a:cs typeface="DM Sans"/>
                <a:sym typeface="DM Sans"/>
              </a:rPr>
              <a:t>2+2</a:t>
            </a:r>
            <a:endParaRPr sz="16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latin typeface="DM Sans"/>
                <a:ea typeface="DM Sans"/>
                <a:cs typeface="DM Sans"/>
                <a:sym typeface="DM Sans"/>
              </a:rPr>
              <a:t>Answer = 5</a:t>
            </a:r>
            <a:endParaRPr sz="1600">
              <a:solidFill>
                <a:schemeClr val="dk1"/>
              </a:solidFill>
              <a:latin typeface="DM Sans"/>
              <a:ea typeface="DM Sans"/>
              <a:cs typeface="DM Sans"/>
              <a:sym typeface="DM Sans"/>
            </a:endParaRPr>
          </a:p>
          <a:p>
            <a:pPr indent="0" lvl="0" marL="0" rtl="0" algn="l">
              <a:spcBef>
                <a:spcPts val="120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idx="12" type="sldNum"/>
          </p:nvPr>
        </p:nvSpPr>
        <p:spPr>
          <a:xfrm>
            <a:off x="6553200" y="4767263"/>
            <a:ext cx="2133600" cy="27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N"/>
              <a:t>‹#›</a:t>
            </a:fld>
            <a:endParaRPr/>
          </a:p>
        </p:txBody>
      </p:sp>
      <p:sp>
        <p:nvSpPr>
          <p:cNvPr id="286" name="Google Shape;286;p39"/>
          <p:cNvSpPr txBox="1"/>
          <p:nvPr/>
        </p:nvSpPr>
        <p:spPr>
          <a:xfrm>
            <a:off x="196925" y="310100"/>
            <a:ext cx="635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rgbClr val="099F4E"/>
                </a:solidFill>
                <a:latin typeface="DM Sans"/>
                <a:ea typeface="DM Sans"/>
                <a:cs typeface="DM Sans"/>
                <a:sym typeface="DM Sans"/>
              </a:rPr>
              <a:t>Key Outcomes</a:t>
            </a:r>
            <a:endParaRPr sz="2200"/>
          </a:p>
        </p:txBody>
      </p:sp>
      <p:sp>
        <p:nvSpPr>
          <p:cNvPr id="287" name="Google Shape;287;p39"/>
          <p:cNvSpPr txBox="1"/>
          <p:nvPr/>
        </p:nvSpPr>
        <p:spPr>
          <a:xfrm>
            <a:off x="196925" y="910675"/>
            <a:ext cx="8490000" cy="3943800"/>
          </a:xfrm>
          <a:prstGeom prst="rect">
            <a:avLst/>
          </a:prstGeom>
          <a:noFill/>
          <a:ln>
            <a:noFill/>
          </a:ln>
        </p:spPr>
        <p:txBody>
          <a:bodyPr anchorCtr="0" anchor="t" bIns="91425" lIns="91425" spcFirstLastPara="1" rIns="91425" wrap="square" tIns="91425">
            <a:noAutofit/>
          </a:bodyPr>
          <a:lstStyle/>
          <a:p>
            <a:pPr indent="-298450" lvl="3" marL="1828800" rtl="0" algn="l">
              <a:lnSpc>
                <a:spcPct val="115000"/>
              </a:lnSpc>
              <a:spcBef>
                <a:spcPts val="1200"/>
              </a:spcBef>
              <a:spcAft>
                <a:spcPts val="0"/>
              </a:spcAft>
              <a:buClr>
                <a:schemeClr val="dk1"/>
              </a:buClr>
              <a:buSzPts val="1100"/>
              <a:buChar char="●"/>
            </a:pPr>
            <a:r>
              <a:rPr lang="en-IN" sz="1600">
                <a:solidFill>
                  <a:schemeClr val="dk1"/>
                </a:solidFill>
                <a:latin typeface="DM Sans"/>
                <a:ea typeface="DM Sans"/>
                <a:cs typeface="DM Sans"/>
                <a:sym typeface="DM Sans"/>
              </a:rPr>
              <a:t>Understand Greedy algorithm approach</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3" marL="18288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Apply Greedy techniques to solve problems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3" marL="18288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Understand DP on Trees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3" marL="18288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Implement DP using Bitmasking</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3" marL="18288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Solve problems using DP with Segments</a:t>
            </a:r>
            <a:br>
              <a:rPr lang="en-IN" sz="1600">
                <a:solidFill>
                  <a:schemeClr val="dk1"/>
                </a:solidFill>
                <a:latin typeface="DM Sans"/>
                <a:ea typeface="DM Sans"/>
                <a:cs typeface="DM Sans"/>
                <a:sym typeface="DM Sans"/>
              </a:rPr>
            </a:br>
            <a:endParaRPr sz="1600">
              <a:solidFill>
                <a:schemeClr val="dk1"/>
              </a:solidFill>
              <a:latin typeface="DM Sans"/>
              <a:ea typeface="DM Sans"/>
              <a:cs typeface="DM Sans"/>
              <a:sym typeface="DM Sans"/>
            </a:endParaRPr>
          </a:p>
          <a:p>
            <a:pPr indent="-298450" lvl="3" marL="1828800" rtl="0" algn="l">
              <a:lnSpc>
                <a:spcPct val="115000"/>
              </a:lnSpc>
              <a:spcBef>
                <a:spcPts val="0"/>
              </a:spcBef>
              <a:spcAft>
                <a:spcPts val="0"/>
              </a:spcAft>
              <a:buClr>
                <a:schemeClr val="dk1"/>
              </a:buClr>
              <a:buSzPts val="1100"/>
              <a:buChar char="●"/>
            </a:pPr>
            <a:r>
              <a:rPr lang="en-IN" sz="1600">
                <a:solidFill>
                  <a:schemeClr val="dk1"/>
                </a:solidFill>
                <a:latin typeface="DM Sans"/>
                <a:ea typeface="DM Sans"/>
                <a:cs typeface="DM Sans"/>
                <a:sym typeface="DM Sans"/>
              </a:rPr>
              <a:t>Apply advanced optimization techniques</a:t>
            </a:r>
            <a:endParaRPr sz="1600">
              <a:solidFill>
                <a:schemeClr val="dk1"/>
              </a:solidFill>
              <a:latin typeface="DM Sans"/>
              <a:ea typeface="DM Sans"/>
              <a:cs typeface="DM Sans"/>
              <a:sym typeface="DM Sans"/>
            </a:endParaRPr>
          </a:p>
          <a:p>
            <a:pPr indent="0" lvl="0" marL="1828800" rtl="0" algn="l">
              <a:lnSpc>
                <a:spcPct val="115000"/>
              </a:lnSpc>
              <a:spcBef>
                <a:spcPts val="1200"/>
              </a:spcBef>
              <a:spcAft>
                <a:spcPts val="120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nvSpPr>
        <p:spPr>
          <a:xfrm>
            <a:off x="2286000" y="2371695"/>
            <a:ext cx="4572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chemeClr val="dk1"/>
                </a:solidFill>
                <a:latin typeface="Calibri"/>
                <a:ea typeface="Calibri"/>
                <a:cs typeface="Calibri"/>
                <a:sym typeface="Calibri"/>
              </a:rPr>
              <a:t>Thank You!</a:t>
            </a:r>
            <a:endParaRPr b="1"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