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9144000" cy="6858000"/>
  <p:embeddedFontLst>
    <p:embeddedFont>
      <p:font typeface="Montserrat SemiBold"/>
      <p:regular r:id="rId24"/>
      <p:bold r:id="rId25"/>
      <p:italic r:id="rId26"/>
      <p:boldItalic r:id="rId27"/>
    </p:embeddedFont>
    <p:embeddedFont>
      <p:font typeface="DM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160" orient="horz"/>
        <p:guide pos="288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SemiBold-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SemiBold-italic.fntdata"/><Relationship Id="rId25" Type="http://schemas.openxmlformats.org/officeDocument/2006/relationships/font" Target="fonts/MontserratSemiBold-bold.fntdata"/><Relationship Id="rId28" Type="http://schemas.openxmlformats.org/officeDocument/2006/relationships/font" Target="fonts/DMSans-regular.fntdata"/><Relationship Id="rId27" Type="http://schemas.openxmlformats.org/officeDocument/2006/relationships/font" Target="fonts/Montserrat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Italic.fntdata"/><Relationship Id="rId30" Type="http://schemas.openxmlformats.org/officeDocument/2006/relationships/font" Target="fonts/DM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3de477302_0_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73de47730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a1c165cb9_0_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7a1c165cb9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7a1c165cb9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7a1c165cb9_0_1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7a1c165cb9_0_185: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a4891cff1_0_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a4891cff1_0_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ca4891cff1_0_2: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a4891cff1_0_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a4891cff1_0_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ca4891cff1_0_78: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a4891cff1_0_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a4891cff1_0_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ca4891cff1_0_1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a4891cff1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a4891cff1_0_8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ca4891cff1_0_86: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a4891cff1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a4891cff1_0_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ca4891cff1_0_20: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a4891cff1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a4891cff1_0_9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ca4891cff1_0_94: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a4891cff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a4891cff1_0_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ca4891cff1_0_29: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a4891cff1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a4891cff1_0_10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ca4891cff1_0_102: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a4891cff1_0_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a4891cff1_0_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ca4891cff1_0_38: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a4891cff1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a4891cff1_0_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ca4891cff1_0_48: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a4891cff1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ca4891cff1_0_5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ca4891cff1_0_57: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a4891cff1_0_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a4891cff1_0_6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ca4891cff1_0_66: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735a022c8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735a022c8_0_1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c735a022c8_0_135: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685800" y="1200150"/>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3"/>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4"/>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5"/>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2" name="Google Shape;32;p5"/>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5"/>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6"/>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6"/>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9" name="Google Shape;39;p6"/>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6"/>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7"/>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7"/>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8"/>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8"/>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9"/>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9" name="Google Shape;59;p9"/>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0" name="Google Shape;60;p9"/>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9"/>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9"/>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
          <p:cNvSpPr/>
          <p:nvPr>
            <p:ph idx="2" type="pic"/>
          </p:nvPr>
        </p:nvSpPr>
        <p:spPr>
          <a:xfrm>
            <a:off x="1792288" y="459581"/>
            <a:ext cx="5486400" cy="3086100"/>
          </a:xfrm>
          <a:prstGeom prst="rect">
            <a:avLst/>
          </a:prstGeom>
          <a:noFill/>
          <a:ln>
            <a:noFill/>
          </a:ln>
        </p:spPr>
      </p:sp>
      <p:sp>
        <p:nvSpPr>
          <p:cNvPr id="66" name="Google Shape;66;p10"/>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7" name="Google Shape;67;p10"/>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0"/>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0"/>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1"/>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1"/>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11"/>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1"/>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1"/>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2"/>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2"/>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12"/>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12"/>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2" name="Shape 82"/>
        <p:cNvGrpSpPr/>
        <p:nvPr/>
      </p:nvGrpSpPr>
      <p:grpSpPr>
        <a:xfrm>
          <a:off x="0" y="0"/>
          <a:ext cx="0" cy="0"/>
          <a:chOff x="0" y="0"/>
          <a:chExt cx="0" cy="0"/>
        </a:xfrm>
      </p:grpSpPr>
      <p:sp>
        <p:nvSpPr>
          <p:cNvPr id="83" name="Google Shape;83;p13"/>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3"/>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13"/>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87" name="Shape 87"/>
        <p:cNvGrpSpPr/>
        <p:nvPr/>
      </p:nvGrpSpPr>
      <p:grpSpPr>
        <a:xfrm>
          <a:off x="0" y="0"/>
          <a:ext cx="0" cy="0"/>
          <a:chOff x="0" y="0"/>
          <a:chExt cx="0" cy="0"/>
        </a:xfrm>
      </p:grpSpPr>
      <p:sp>
        <p:nvSpPr>
          <p:cNvPr id="88" name="Google Shape;88;p14"/>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p:nvPr/>
        </p:nvSpPr>
        <p:spPr>
          <a:xfrm>
            <a:off x="0" y="4933950"/>
            <a:ext cx="9144000" cy="20955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 name="Google Shape;13;p1"/>
          <p:cNvSpPr txBox="1"/>
          <p:nvPr/>
        </p:nvSpPr>
        <p:spPr>
          <a:xfrm>
            <a:off x="0" y="4927410"/>
            <a:ext cx="822960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1100" u="none" cap="none" strike="noStrike">
                <a:solidFill>
                  <a:schemeClr val="lt1"/>
                </a:solidFill>
                <a:latin typeface="Calibri"/>
                <a:ea typeface="Calibri"/>
                <a:cs typeface="Calibri"/>
                <a:sym typeface="Calibri"/>
              </a:rPr>
              <a:t>GUVI – Grab Ur Vernacular Imprint – TRUSTED BY 3 MILLION+ LEARNERS | 1000 Hiring Partners | 100+ Education Institutions</a:t>
            </a:r>
            <a:endParaRPr b="1" i="0" sz="1100" u="none" cap="none" strike="noStrike">
              <a:solidFill>
                <a:schemeClr val="lt1"/>
              </a:solidFill>
              <a:latin typeface="Calibri"/>
              <a:ea typeface="Calibri"/>
              <a:cs typeface="Calibri"/>
              <a:sym typeface="Calibri"/>
            </a:endParaRPr>
          </a:p>
        </p:txBody>
      </p:sp>
      <p:pic>
        <p:nvPicPr>
          <p:cNvPr id="14" name="Google Shape;14;p1"/>
          <p:cNvPicPr preferRelativeResize="0"/>
          <p:nvPr/>
        </p:nvPicPr>
        <p:blipFill rotWithShape="1">
          <a:blip r:embed="rId1">
            <a:alphaModFix/>
          </a:blip>
          <a:srcRect b="0" l="0" r="0" t="0"/>
          <a:stretch/>
        </p:blipFill>
        <p:spPr>
          <a:xfrm>
            <a:off x="6664209" y="186928"/>
            <a:ext cx="2311249" cy="457200"/>
          </a:xfrm>
          <a:prstGeom prst="rect">
            <a:avLst/>
          </a:prstGeom>
          <a:noFill/>
          <a:ln>
            <a:noFill/>
          </a:ln>
        </p:spPr>
      </p:pic>
      <p:sp>
        <p:nvSpPr>
          <p:cNvPr id="15" name="Google Shape;15;p1"/>
          <p:cNvSpPr txBox="1"/>
          <p:nvPr/>
        </p:nvSpPr>
        <p:spPr>
          <a:xfrm>
            <a:off x="7990448" y="4906215"/>
            <a:ext cx="1139483"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IN" sz="1100" u="none" cap="none" strike="noStrike">
                <a:solidFill>
                  <a:schemeClr val="lt1"/>
                </a:solidFill>
                <a:latin typeface="Calibri"/>
                <a:ea typeface="Calibri"/>
                <a:cs typeface="Calibri"/>
                <a:sym typeface="Calibri"/>
              </a:rPr>
              <a:t>www.guvi.in</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50000"/>
          </a:blip>
          <a:stretch>
            <a:fillRect/>
          </a:stretch>
        </a:blipFill>
      </p:bgPr>
    </p:bg>
    <p:spTree>
      <p:nvGrpSpPr>
        <p:cNvPr id="92" name="Shape 92"/>
        <p:cNvGrpSpPr/>
        <p:nvPr/>
      </p:nvGrpSpPr>
      <p:grpSpPr>
        <a:xfrm>
          <a:off x="0" y="0"/>
          <a:ext cx="0" cy="0"/>
          <a:chOff x="0" y="0"/>
          <a:chExt cx="0" cy="0"/>
        </a:xfrm>
      </p:grpSpPr>
      <p:sp>
        <p:nvSpPr>
          <p:cNvPr id="93" name="Google Shape;93;p15"/>
          <p:cNvSpPr txBox="1"/>
          <p:nvPr/>
        </p:nvSpPr>
        <p:spPr>
          <a:xfrm>
            <a:off x="237925" y="35375"/>
            <a:ext cx="59397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500">
                <a:solidFill>
                  <a:srgbClr val="0F243E"/>
                </a:solidFill>
                <a:latin typeface="Montserrat SemiBold"/>
                <a:ea typeface="Montserrat SemiBold"/>
                <a:cs typeface="Montserrat SemiBold"/>
                <a:sym typeface="Montserrat SemiBold"/>
              </a:rPr>
              <a:t>Data Structures in Python</a:t>
            </a:r>
            <a:endParaRPr b="1" sz="2500">
              <a:solidFill>
                <a:srgbClr val="0F243E"/>
              </a:solidFill>
              <a:latin typeface="Montserrat SemiBold"/>
              <a:ea typeface="Montserrat SemiBold"/>
              <a:cs typeface="Montserrat SemiBold"/>
              <a:sym typeface="Montserrat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nvSpPr>
        <p:spPr>
          <a:xfrm>
            <a:off x="573550" y="599975"/>
            <a:ext cx="7465200" cy="48333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Introduction to Graph Optimization</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Dijkstra’s Algorithm</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Bellman–Ford Algorithm</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Topological Sorting (DAG)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Minimum Spanning Tree (Prim’s Algorithm)</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Minimum Spanning Tree (Kruskal’s Algorithm)</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Introduction to Network Flow</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AutoNum type="arabicPeriod"/>
            </a:pPr>
            <a:r>
              <a:rPr lang="en-IN" sz="1600">
                <a:solidFill>
                  <a:schemeClr val="dk1"/>
                </a:solidFill>
                <a:latin typeface="DM Sans"/>
                <a:ea typeface="DM Sans"/>
                <a:cs typeface="DM Sans"/>
                <a:sym typeface="DM Sans"/>
              </a:rPr>
              <a:t>Applications and examples</a:t>
            </a:r>
            <a:endParaRPr sz="1600">
              <a:solidFill>
                <a:schemeClr val="dk1"/>
              </a:solidFill>
              <a:latin typeface="DM Sans"/>
              <a:ea typeface="DM Sans"/>
              <a:cs typeface="DM Sans"/>
              <a:sym typeface="DM Sans"/>
            </a:endParaRPr>
          </a:p>
          <a:p>
            <a:pPr indent="0" lvl="0" marL="457200" rtl="0" algn="l">
              <a:lnSpc>
                <a:spcPct val="115000"/>
              </a:lnSpc>
              <a:spcBef>
                <a:spcPts val="1200"/>
              </a:spcBef>
              <a:spcAft>
                <a:spcPts val="1200"/>
              </a:spcAft>
              <a:buNone/>
            </a:pPr>
            <a:r>
              <a:t/>
            </a:r>
            <a:endParaRPr sz="1600">
              <a:solidFill>
                <a:schemeClr val="dk1"/>
              </a:solidFill>
              <a:latin typeface="DM Sans"/>
              <a:ea typeface="DM Sans"/>
              <a:cs typeface="DM Sans"/>
              <a:sym typeface="DM Sans"/>
            </a:endParaRPr>
          </a:p>
        </p:txBody>
      </p:sp>
      <p:sp>
        <p:nvSpPr>
          <p:cNvPr id="99" name="Google Shape;99;p16"/>
          <p:cNvSpPr txBox="1"/>
          <p:nvPr/>
        </p:nvSpPr>
        <p:spPr>
          <a:xfrm>
            <a:off x="573550" y="7677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Agenda</a:t>
            </a:r>
            <a:endParaRPr sz="2200"/>
          </a:p>
        </p:txBody>
      </p:sp>
      <p:pic>
        <p:nvPicPr>
          <p:cNvPr id="100" name="Google Shape;100;p16"/>
          <p:cNvPicPr preferRelativeResize="0"/>
          <p:nvPr/>
        </p:nvPicPr>
        <p:blipFill>
          <a:blip r:embed="rId3">
            <a:alphaModFix/>
          </a:blip>
          <a:stretch>
            <a:fillRect/>
          </a:stretch>
        </p:blipFill>
        <p:spPr>
          <a:xfrm>
            <a:off x="5653650" y="1723475"/>
            <a:ext cx="3109775" cy="3109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394350" y="1029175"/>
            <a:ext cx="8355300" cy="372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This unit introduces </a:t>
            </a:r>
            <a:r>
              <a:rPr b="1" lang="en-IN" sz="1600">
                <a:solidFill>
                  <a:schemeClr val="dk1"/>
                </a:solidFill>
                <a:latin typeface="DM Sans"/>
                <a:ea typeface="DM Sans"/>
                <a:cs typeface="DM Sans"/>
                <a:sym typeface="DM Sans"/>
              </a:rPr>
              <a:t>graph optimization algorithms</a:t>
            </a:r>
            <a:r>
              <a:rPr lang="en-IN" sz="1600">
                <a:solidFill>
                  <a:schemeClr val="dk1"/>
                </a:solidFill>
                <a:latin typeface="DM Sans"/>
                <a:ea typeface="DM Sans"/>
                <a:cs typeface="DM Sans"/>
                <a:sym typeface="DM Sans"/>
              </a:rPr>
              <a:t> used to find the best paths and minimum cost connections in graphs. Students will learn shortest path algorithms like Dijkstra’s and Bellman–Ford, and techniques to connect all nodes efficiently using Minimum Spanning Tree algorithms such as Prim’s and Kruskal’s.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The unit also covers Topological Sorting for task scheduling and introduces Network Flow concepts used in real-world systems like transportation and communication networks.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These algorithms are essential for solving real-world problems involving routing, scheduling, and network optimization.</a:t>
            </a:r>
            <a:endParaRPr sz="1600">
              <a:solidFill>
                <a:schemeClr val="dk1"/>
              </a:solidFill>
              <a:latin typeface="DM Sans"/>
              <a:ea typeface="DM Sans"/>
              <a:cs typeface="DM Sans"/>
              <a:sym typeface="DM Sans"/>
            </a:endParaRPr>
          </a:p>
          <a:p>
            <a:pPr indent="0" lvl="0" marL="0" rtl="0" algn="just">
              <a:lnSpc>
                <a:spcPct val="150000"/>
              </a:lnSpc>
              <a:spcBef>
                <a:spcPts val="3400"/>
              </a:spcBef>
              <a:spcAft>
                <a:spcPts val="3400"/>
              </a:spcAft>
              <a:buNone/>
            </a:pPr>
            <a:r>
              <a:t/>
            </a:r>
            <a:endParaRPr sz="1600">
              <a:solidFill>
                <a:schemeClr val="dk1"/>
              </a:solidFill>
              <a:latin typeface="DM Sans"/>
              <a:ea typeface="DM Sans"/>
              <a:cs typeface="DM Sans"/>
              <a:sym typeface="DM Sans"/>
            </a:endParaRPr>
          </a:p>
        </p:txBody>
      </p:sp>
      <p:sp>
        <p:nvSpPr>
          <p:cNvPr id="106" name="Google Shape;106;p17"/>
          <p:cNvSpPr txBox="1"/>
          <p:nvPr/>
        </p:nvSpPr>
        <p:spPr>
          <a:xfrm>
            <a:off x="196925" y="76775"/>
            <a:ext cx="4840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Unit </a:t>
            </a:r>
            <a:r>
              <a:rPr b="1" lang="en-IN" sz="2200">
                <a:solidFill>
                  <a:srgbClr val="099F4E"/>
                </a:solidFill>
                <a:latin typeface="DM Sans"/>
                <a:ea typeface="DM Sans"/>
                <a:cs typeface="DM Sans"/>
                <a:sym typeface="DM Sans"/>
              </a:rPr>
              <a:t>Overview</a:t>
            </a:r>
            <a:r>
              <a:rPr b="1" lang="en-IN" sz="2200">
                <a:solidFill>
                  <a:srgbClr val="099F4E"/>
                </a:solidFill>
                <a:latin typeface="DM Sans"/>
                <a:ea typeface="DM Sans"/>
                <a:cs typeface="DM Sans"/>
                <a:sym typeface="DM Sans"/>
              </a:rPr>
              <a:t> </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13" name="Google Shape;113;p18"/>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Introduction to Graph Optimization</a:t>
            </a:r>
            <a:endParaRPr sz="2200"/>
          </a:p>
        </p:txBody>
      </p:sp>
      <p:sp>
        <p:nvSpPr>
          <p:cNvPr id="114" name="Google Shape;114;p18"/>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Graph Optimization algorithms are used to find the </a:t>
            </a:r>
            <a:r>
              <a:rPr b="1" lang="en-IN" sz="1600">
                <a:solidFill>
                  <a:schemeClr val="dk1"/>
                </a:solidFill>
                <a:latin typeface="DM Sans"/>
                <a:ea typeface="DM Sans"/>
                <a:cs typeface="DM Sans"/>
                <a:sym typeface="DM Sans"/>
              </a:rPr>
              <a:t>best path or best structure</a:t>
            </a:r>
            <a:r>
              <a:rPr lang="en-IN" sz="1600">
                <a:solidFill>
                  <a:schemeClr val="dk1"/>
                </a:solidFill>
                <a:latin typeface="DM Sans"/>
                <a:ea typeface="DM Sans"/>
                <a:cs typeface="DM Sans"/>
                <a:sym typeface="DM Sans"/>
              </a:rPr>
              <a:t> in a graph.</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These algorithms help solve problems like:</a:t>
            </a:r>
            <a:endParaRPr sz="1600">
              <a:solidFill>
                <a:schemeClr val="dk1"/>
              </a:solidFill>
              <a:latin typeface="DM Sans"/>
              <a:ea typeface="DM Sans"/>
              <a:cs typeface="DM Sans"/>
              <a:sym typeface="DM Sans"/>
            </a:endParaRPr>
          </a:p>
          <a:p>
            <a:pPr indent="-330200" lvl="0" marL="457200" rtl="0" algn="l">
              <a:lnSpc>
                <a:spcPct val="115000"/>
              </a:lnSpc>
              <a:spcBef>
                <a:spcPts val="120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Shortest path between cities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Minimum cost network connection</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Task scheduling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Network routing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21" name="Google Shape;121;p19"/>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Dijkstra’s Algorithm</a:t>
            </a:r>
            <a:endParaRPr sz="2200"/>
          </a:p>
        </p:txBody>
      </p:sp>
      <p:sp>
        <p:nvSpPr>
          <p:cNvPr id="122" name="Google Shape;122;p19"/>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Dijkstra’s Algorithm finds the </a:t>
            </a:r>
            <a:r>
              <a:rPr b="1" lang="en-IN" sz="1600">
                <a:solidFill>
                  <a:schemeClr val="dk1"/>
                </a:solidFill>
                <a:latin typeface="DM Sans"/>
                <a:ea typeface="DM Sans"/>
                <a:cs typeface="DM Sans"/>
                <a:sym typeface="DM Sans"/>
              </a:rPr>
              <a:t>shortest path from one source vertex to all other vertices</a:t>
            </a:r>
            <a:r>
              <a:rPr lang="en-IN" sz="1600">
                <a:solidFill>
                  <a:schemeClr val="dk1"/>
                </a:solidFill>
                <a:latin typeface="DM Sans"/>
                <a:ea typeface="DM Sans"/>
                <a:cs typeface="DM Sans"/>
                <a:sym typeface="DM Sans"/>
              </a:rPr>
              <a:t> in a weighted graph.</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Works only with </a:t>
            </a:r>
            <a:r>
              <a:rPr b="1" lang="en-IN" sz="1600">
                <a:solidFill>
                  <a:schemeClr val="dk1"/>
                </a:solidFill>
                <a:latin typeface="DM Sans"/>
                <a:ea typeface="DM Sans"/>
                <a:cs typeface="DM Sans"/>
                <a:sym typeface="DM Sans"/>
              </a:rPr>
              <a:t>positive weights</a:t>
            </a:r>
            <a:r>
              <a:rPr lang="en-IN" sz="1600">
                <a:solidFill>
                  <a:schemeClr val="dk1"/>
                </a:solidFill>
                <a:latin typeface="DM Sans"/>
                <a:ea typeface="DM Sans"/>
                <a:cs typeface="DM Sans"/>
                <a:sym typeface="DM Sans"/>
              </a:rPr>
              <a:t>.</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Example Graph</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rgbClr val="188038"/>
                </a:solidFill>
                <a:latin typeface="DM Sans"/>
                <a:ea typeface="DM Sans"/>
                <a:cs typeface="DM Sans"/>
                <a:sym typeface="DM Sans"/>
              </a:rPr>
              <a:t>     (4)</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A ---- B</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(2)|    (5)</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C ---- D</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(1)</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Find shortest path from A</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29" name="Google Shape;129;p20"/>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Dijkstra’s Algorithm</a:t>
            </a:r>
            <a:endParaRPr sz="2200"/>
          </a:p>
        </p:txBody>
      </p:sp>
      <p:sp>
        <p:nvSpPr>
          <p:cNvPr id="130" name="Google Shape;130;p20"/>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131" name="Google Shape;131;p20"/>
          <p:cNvPicPr preferRelativeResize="0"/>
          <p:nvPr/>
        </p:nvPicPr>
        <p:blipFill rotWithShape="1">
          <a:blip r:embed="rId3">
            <a:alphaModFix/>
          </a:blip>
          <a:srcRect b="0" l="0" r="0" t="10579"/>
          <a:stretch/>
        </p:blipFill>
        <p:spPr>
          <a:xfrm>
            <a:off x="1427425" y="1284400"/>
            <a:ext cx="6651599" cy="282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38" name="Google Shape;138;p21"/>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Bellman–Ford Algorithm</a:t>
            </a:r>
            <a:endParaRPr sz="2200"/>
          </a:p>
        </p:txBody>
      </p:sp>
      <p:sp>
        <p:nvSpPr>
          <p:cNvPr id="139" name="Google Shape;139;p21"/>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Bellman–Ford finds shortest path even with </a:t>
            </a:r>
            <a:r>
              <a:rPr b="1" lang="en-IN" sz="1600">
                <a:solidFill>
                  <a:schemeClr val="dk1"/>
                </a:solidFill>
                <a:latin typeface="DM Sans"/>
                <a:ea typeface="DM Sans"/>
                <a:cs typeface="DM Sans"/>
                <a:sym typeface="DM Sans"/>
              </a:rPr>
              <a:t>negative weights</a:t>
            </a:r>
            <a:r>
              <a:rPr lang="en-IN" sz="1600">
                <a:solidFill>
                  <a:schemeClr val="dk1"/>
                </a:solidFill>
                <a:latin typeface="DM Sans"/>
                <a:ea typeface="DM Sans"/>
                <a:cs typeface="DM Sans"/>
                <a:sym typeface="DM Sans"/>
              </a:rPr>
              <a:t>.</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Example</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rgbClr val="188038"/>
                </a:solidFill>
                <a:latin typeface="DM Sans"/>
                <a:ea typeface="DM Sans"/>
                <a:cs typeface="DM Sans"/>
                <a:sym typeface="DM Sans"/>
              </a:rPr>
              <a:t>A → B (4)</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A → C (2)</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C → D (-3)</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D → B (1)</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Advantage</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Works with negative weights.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46" name="Google Shape;146;p22"/>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Bellman–Ford Algorithm</a:t>
            </a:r>
            <a:endParaRPr sz="2200"/>
          </a:p>
        </p:txBody>
      </p:sp>
      <p:sp>
        <p:nvSpPr>
          <p:cNvPr id="147" name="Google Shape;147;p22"/>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148" name="Google Shape;148;p22"/>
          <p:cNvPicPr preferRelativeResize="0"/>
          <p:nvPr/>
        </p:nvPicPr>
        <p:blipFill>
          <a:blip r:embed="rId3">
            <a:alphaModFix/>
          </a:blip>
          <a:stretch>
            <a:fillRect/>
          </a:stretch>
        </p:blipFill>
        <p:spPr>
          <a:xfrm>
            <a:off x="1633525" y="1052438"/>
            <a:ext cx="5876925" cy="3495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55" name="Google Shape;155;p23"/>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Topological Sorting (DAG)</a:t>
            </a:r>
            <a:endParaRPr sz="2200"/>
          </a:p>
        </p:txBody>
      </p:sp>
      <p:sp>
        <p:nvSpPr>
          <p:cNvPr id="156" name="Google Shape;156;p23"/>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Topological sorting is ordering of vertices in </a:t>
            </a:r>
            <a:r>
              <a:rPr b="1" lang="en-IN" sz="1600">
                <a:solidFill>
                  <a:schemeClr val="dk1"/>
                </a:solidFill>
                <a:latin typeface="DM Sans"/>
                <a:ea typeface="DM Sans"/>
                <a:cs typeface="DM Sans"/>
                <a:sym typeface="DM Sans"/>
              </a:rPr>
              <a:t>Directed Acyclic Graph (DAG)</a:t>
            </a:r>
            <a:r>
              <a:rPr lang="en-IN" sz="1600">
                <a:solidFill>
                  <a:schemeClr val="dk1"/>
                </a:solidFill>
                <a:latin typeface="DM Sans"/>
                <a:ea typeface="DM Sans"/>
                <a:cs typeface="DM Sans"/>
                <a:sym typeface="DM Sans"/>
              </a:rPr>
              <a:t>.</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Used in task scheduling.</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Example</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rgbClr val="188038"/>
                </a:solidFill>
                <a:latin typeface="DM Sans"/>
                <a:ea typeface="DM Sans"/>
                <a:cs typeface="DM Sans"/>
                <a:sym typeface="DM Sans"/>
              </a:rPr>
              <a:t>Task A → Task B → Task D</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 Task C →</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Possible order:</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rgbClr val="188038"/>
                </a:solidFill>
                <a:latin typeface="DM Sans"/>
                <a:ea typeface="DM Sans"/>
                <a:cs typeface="DM Sans"/>
                <a:sym typeface="DM Sans"/>
              </a:rPr>
              <a:t>A → B → C → D</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63" name="Google Shape;163;p24"/>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Topological Sorting (DAG)</a:t>
            </a:r>
            <a:endParaRPr sz="2200"/>
          </a:p>
        </p:txBody>
      </p:sp>
      <p:sp>
        <p:nvSpPr>
          <p:cNvPr id="164" name="Google Shape;164;p24"/>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165" name="Google Shape;165;p24"/>
          <p:cNvPicPr preferRelativeResize="0"/>
          <p:nvPr/>
        </p:nvPicPr>
        <p:blipFill>
          <a:blip r:embed="rId3">
            <a:alphaModFix/>
          </a:blip>
          <a:stretch>
            <a:fillRect/>
          </a:stretch>
        </p:blipFill>
        <p:spPr>
          <a:xfrm>
            <a:off x="601175" y="1125348"/>
            <a:ext cx="7941652" cy="289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72" name="Google Shape;172;p25"/>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Minimum Spanning Tree (MST)</a:t>
            </a:r>
            <a:endParaRPr sz="2200"/>
          </a:p>
        </p:txBody>
      </p:sp>
      <p:sp>
        <p:nvSpPr>
          <p:cNvPr id="173" name="Google Shape;173;p25"/>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Minimum Spanning Tree connects all vertices with </a:t>
            </a:r>
            <a:r>
              <a:rPr b="1" lang="en-IN" sz="1600">
                <a:solidFill>
                  <a:schemeClr val="dk1"/>
                </a:solidFill>
                <a:latin typeface="DM Sans"/>
                <a:ea typeface="DM Sans"/>
                <a:cs typeface="DM Sans"/>
                <a:sym typeface="DM Sans"/>
              </a:rPr>
              <a:t>minimum total weight</a:t>
            </a:r>
            <a:r>
              <a:rPr lang="en-IN" sz="1600">
                <a:solidFill>
                  <a:schemeClr val="dk1"/>
                </a:solidFill>
                <a:latin typeface="DM Sans"/>
                <a:ea typeface="DM Sans"/>
                <a:cs typeface="DM Sans"/>
                <a:sym typeface="DM Sans"/>
              </a:rPr>
              <a:t> and no cycles.</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Example</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rgbClr val="188038"/>
                </a:solidFill>
                <a:latin typeface="DM Sans"/>
                <a:ea typeface="DM Sans"/>
                <a:cs typeface="DM Sans"/>
                <a:sym typeface="DM Sans"/>
              </a:rPr>
              <a:t>A --1-- B</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4    2</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C</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MST cost = 1 + 2 = 3</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80" name="Google Shape;180;p26"/>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Minimum Spanning Tree (MST)</a:t>
            </a:r>
            <a:endParaRPr sz="2200"/>
          </a:p>
        </p:txBody>
      </p:sp>
      <p:sp>
        <p:nvSpPr>
          <p:cNvPr id="181" name="Google Shape;181;p26"/>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182" name="Google Shape;182;p26"/>
          <p:cNvPicPr preferRelativeResize="0"/>
          <p:nvPr/>
        </p:nvPicPr>
        <p:blipFill>
          <a:blip r:embed="rId3">
            <a:alphaModFix/>
          </a:blip>
          <a:stretch>
            <a:fillRect/>
          </a:stretch>
        </p:blipFill>
        <p:spPr>
          <a:xfrm>
            <a:off x="1633538" y="957263"/>
            <a:ext cx="5876925" cy="3228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89" name="Google Shape;189;p27"/>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Prim’s Algorithm</a:t>
            </a:r>
            <a:endParaRPr sz="2200"/>
          </a:p>
        </p:txBody>
      </p:sp>
      <p:sp>
        <p:nvSpPr>
          <p:cNvPr id="190" name="Google Shape;190;p27"/>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Build MST by selecting smallest edge from visited nodes.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191" name="Google Shape;191;p27"/>
          <p:cNvPicPr preferRelativeResize="0"/>
          <p:nvPr/>
        </p:nvPicPr>
        <p:blipFill>
          <a:blip r:embed="rId3">
            <a:alphaModFix/>
          </a:blip>
          <a:stretch>
            <a:fillRect/>
          </a:stretch>
        </p:blipFill>
        <p:spPr>
          <a:xfrm>
            <a:off x="2773188" y="1466025"/>
            <a:ext cx="3597625" cy="33883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98" name="Google Shape;198;p28"/>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Kruskal’s Algorithm</a:t>
            </a:r>
            <a:endParaRPr sz="2200"/>
          </a:p>
        </p:txBody>
      </p:sp>
      <p:sp>
        <p:nvSpPr>
          <p:cNvPr id="199" name="Google Shape;199;p28"/>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Select smallest edges without forming cycle.</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Example</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Edges sorted:</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A-B (1)</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B-C (2)</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A-C (4)</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Select:</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rgbClr val="188038"/>
                </a:solidFill>
                <a:latin typeface="DM Sans"/>
                <a:ea typeface="DM Sans"/>
                <a:cs typeface="DM Sans"/>
                <a:sym typeface="DM Sans"/>
              </a:rPr>
              <a:t>A-B, B-C</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200" name="Google Shape;200;p28"/>
          <p:cNvPicPr preferRelativeResize="0"/>
          <p:nvPr/>
        </p:nvPicPr>
        <p:blipFill rotWithShape="1">
          <a:blip r:embed="rId3">
            <a:alphaModFix/>
          </a:blip>
          <a:srcRect b="0" l="0" r="0" t="16674"/>
          <a:stretch/>
        </p:blipFill>
        <p:spPr>
          <a:xfrm>
            <a:off x="2121275" y="2818500"/>
            <a:ext cx="6721326" cy="1511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07" name="Google Shape;207;p29"/>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Introduction to Network Flow</a:t>
            </a:r>
            <a:endParaRPr sz="2200"/>
          </a:p>
        </p:txBody>
      </p:sp>
      <p:sp>
        <p:nvSpPr>
          <p:cNvPr id="208" name="Google Shape;208;p29"/>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Network Flow finds maximum flow from source to destination.</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Water flowing through pipes.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Source → A → B → Sink</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Each edge has capacity.</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15" name="Google Shape;215;p30"/>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Algorithm Comparison</a:t>
            </a:r>
            <a:endParaRPr sz="2200"/>
          </a:p>
        </p:txBody>
      </p:sp>
      <p:sp>
        <p:nvSpPr>
          <p:cNvPr id="216" name="Google Shape;216;p30"/>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217" name="Google Shape;217;p30"/>
          <p:cNvPicPr preferRelativeResize="0"/>
          <p:nvPr/>
        </p:nvPicPr>
        <p:blipFill>
          <a:blip r:embed="rId3">
            <a:alphaModFix/>
          </a:blip>
          <a:stretch>
            <a:fillRect/>
          </a:stretch>
        </p:blipFill>
        <p:spPr>
          <a:xfrm>
            <a:off x="939025" y="1187625"/>
            <a:ext cx="7005800" cy="341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24" name="Google Shape;224;p31"/>
          <p:cNvSpPr txBox="1"/>
          <p:nvPr/>
        </p:nvSpPr>
        <p:spPr>
          <a:xfrm>
            <a:off x="196925" y="310100"/>
            <a:ext cx="635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Key Outcomes</a:t>
            </a:r>
            <a:endParaRPr sz="2200"/>
          </a:p>
        </p:txBody>
      </p:sp>
      <p:sp>
        <p:nvSpPr>
          <p:cNvPr id="225" name="Google Shape;225;p31"/>
          <p:cNvSpPr txBox="1"/>
          <p:nvPr/>
        </p:nvSpPr>
        <p:spPr>
          <a:xfrm>
            <a:off x="196925" y="910675"/>
            <a:ext cx="8490000" cy="39438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120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Understand graph optimization concepts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Implement Dijkstra’s Algorithm for shortest path</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Implement Bellman–Ford Algorithm</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Perform Topological Sorting for task scheduling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Understand Minimum Spanning Tree concept</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Implement Prim’s and Kruskal’s Algorithms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Understand basic Network Flow concepts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Apply graph optimization algorithms to real-world problems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3" marL="1828800" rtl="0" algn="just">
              <a:lnSpc>
                <a:spcPct val="100000"/>
              </a:lnSpc>
              <a:spcBef>
                <a:spcPts val="0"/>
              </a:spcBef>
              <a:spcAft>
                <a:spcPts val="0"/>
              </a:spcAft>
              <a:buClr>
                <a:schemeClr val="dk1"/>
              </a:buClr>
              <a:buSzPts val="1600"/>
              <a:buFont typeface="DM Sans"/>
              <a:buAutoNum type="arabicPeriod"/>
            </a:pPr>
            <a:r>
              <a:t/>
            </a:r>
            <a:endParaRPr sz="16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nvSpPr>
        <p:spPr>
          <a:xfrm>
            <a:off x="2286000" y="2371695"/>
            <a:ext cx="4572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chemeClr val="dk1"/>
                </a:solidFill>
                <a:latin typeface="Calibri"/>
                <a:ea typeface="Calibri"/>
                <a:cs typeface="Calibri"/>
                <a:sym typeface="Calibri"/>
              </a:rPr>
              <a:t>Thank You!</a:t>
            </a:r>
            <a:endParaRPr b="1"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