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9144000" cy="6858000"/>
  <p:embeddedFontLst>
    <p:embeddedFont>
      <p:font typeface="Montserrat SemiBold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SemiBold-italic.fntdata"/><Relationship Id="rId27" Type="http://schemas.openxmlformats.org/officeDocument/2006/relationships/font" Target="fonts/Montserra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6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3de47730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3de47730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1c165cb9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a1c165cb9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1c165cb9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a1c165cb9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a1c165cb9_0_18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07a34043d_0_1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07a34043d_0_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07a34043d_0_11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07a34043d_0_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07a34043d_0_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07a34043d_0_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07a34043d_0_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07a34043d_0_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c07a34043d_0_1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a34043d_0_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07a34043d_0_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07a34043d_0_2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07a34043d_0_1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07a34043d_0_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07a34043d_0_12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07a34043d_0_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07a34043d_0_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c07a34043d_0_3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07a34043d_0_1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07a34043d_0_1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07a34043d_0_129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07a34043d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07a34043d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07a34043d_0_4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07a34043d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07a34043d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07a34043d_0_5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07a34043d_0_1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07a34043d_0_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c07a34043d_0_137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07a34043d_0_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07a34043d_0_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07a34043d_0_6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07a34043d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07a34043d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c07a34043d_0_7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07a34043d_0_9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07a34043d_0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07a34043d_0_98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07a34043d_0_8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07a34043d_0_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07a34043d_0_86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735a022c8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735a022c8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c735a022c8_0_13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20015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4933950"/>
            <a:ext cx="9144000" cy="209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4927410"/>
            <a:ext cx="8229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GUVI – Grab Ur Vernacular Imprint – TRUSTED BY 3 MILLION+ LEARNERS | 1000 Hiring Partners | 100+ Education Institutions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64209" y="186928"/>
            <a:ext cx="23112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7990448" y="4906215"/>
            <a:ext cx="11394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www.guvi.in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237925" y="35375"/>
            <a:ext cx="59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0F243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Structures in Python</a:t>
            </a:r>
            <a:endParaRPr b="1" sz="2500">
              <a:solidFill>
                <a:srgbClr val="0F243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73550" y="599975"/>
            <a:ext cx="7465200" cy="3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 to Range Query problems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Segment Tree concept and operations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Range updates using Lazy Propagation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Binary Indexed Tree (Fenwick Tree)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Comparison of Segment Tree and BIT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Practice examples and applications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3550" y="76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 sz="22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650" y="1723475"/>
            <a:ext cx="3109775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94350" y="1029175"/>
            <a:ext cx="83553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unit introduces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Range Query Algorithms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which are used to efficiently perform queries and updates on a range of elements in an array. Students will learn advanced data structures like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Segment Tree, Lazy Propagation, and Binary Indexed Tree (BIT)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that help reduce query and update time from O(n) to O(log n).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These techniques are widely used in databases, analytics systems, and competitive programming.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96925" y="76775"/>
            <a:ext cx="48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Unit 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Range Query Problems</a:t>
            </a:r>
            <a:endParaRPr sz="2200"/>
          </a:p>
        </p:txBody>
      </p:sp>
      <p:sp>
        <p:nvSpPr>
          <p:cNvPr id="114" name="Google Shape;114;p18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range query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asks questions about a subarray or range of elements.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 sum from index L to R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 minimum from index L to R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 maximum from index L to R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Array: [2, 5, 1, 4, 9, 3]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Queries: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Sum(1,4) → 5+1+4+9 = 19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Min(2,5) → 1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Range Query Problems</a:t>
            </a:r>
            <a:endParaRPr sz="2200"/>
          </a:p>
        </p:txBody>
      </p:sp>
      <p:sp>
        <p:nvSpPr>
          <p:cNvPr id="122" name="Google Shape;122;p19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200" y="985250"/>
            <a:ext cx="47434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Why Efficient Range Query Needed?</a:t>
            </a:r>
            <a:endParaRPr sz="2200"/>
          </a:p>
        </p:txBody>
      </p:sp>
      <p:sp>
        <p:nvSpPr>
          <p:cNvPr id="131" name="Google Shape;131;p20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Normal approach: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Each query takes O(n)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many queries → slow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n = 100000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queries = 100000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Total = 10^10 operations ❌ Slow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Efficient structures: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Segment Tree → O(log 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Binary Indexed Tree → O(log n)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Segment Tree</a:t>
            </a:r>
            <a:endParaRPr sz="2200"/>
          </a:p>
        </p:txBody>
      </p:sp>
      <p:sp>
        <p:nvSpPr>
          <p:cNvPr id="139" name="Google Shape;139;p21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Segment Tree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is a tree data structure used to store range information.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 allows: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Fast range queries → O(log n)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Fast updates → O(log n)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530300" y="1282050"/>
            <a:ext cx="4156500" cy="4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Structure 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Array: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[2, 5, 1, 4]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Tree representation: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 12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 /   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 7      5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 / \    / \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   2   5  1   4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Each node stores sum of children.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Segment Tree</a:t>
            </a:r>
            <a:endParaRPr sz="2200"/>
          </a:p>
        </p:txBody>
      </p:sp>
      <p:sp>
        <p:nvSpPr>
          <p:cNvPr id="148" name="Google Shape;148;p22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425" y="1040487"/>
            <a:ext cx="5293950" cy="36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Segment Tree</a:t>
            </a:r>
            <a:endParaRPr sz="2200"/>
          </a:p>
        </p:txBody>
      </p:sp>
      <p:sp>
        <p:nvSpPr>
          <p:cNvPr id="157" name="Google Shape;157;p23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Operations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Build Tree → O(n)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 Range Query → O(log 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Update → O(log 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Lazy Propagation</a:t>
            </a:r>
            <a:endParaRPr sz="2200"/>
          </a:p>
        </p:txBody>
      </p:sp>
      <p:sp>
        <p:nvSpPr>
          <p:cNvPr id="165" name="Google Shape;165;p24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Problem Without Lazy Propagation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updating range: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Update(1,4,+5)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Normal Segment Tree updates each element → slow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 complexity: O(n)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Solution: Lazy Propagation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Lazy propagation delays updates until needed.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Instead of updating immediately, store update in lazy array.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Lazy Propagation</a:t>
            </a:r>
            <a:endParaRPr sz="2200"/>
          </a:p>
        </p:txBody>
      </p:sp>
      <p:sp>
        <p:nvSpPr>
          <p:cNvPr id="173" name="Google Shape;173;p25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3">
            <a:alphaModFix/>
          </a:blip>
          <a:srcRect b="18494" l="0" r="0" t="0"/>
          <a:stretch/>
        </p:blipFill>
        <p:spPr>
          <a:xfrm>
            <a:off x="1352175" y="823475"/>
            <a:ext cx="6259153" cy="39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Lazy Propagation</a:t>
            </a:r>
            <a:endParaRPr sz="2200"/>
          </a:p>
        </p:txBody>
      </p:sp>
      <p:sp>
        <p:nvSpPr>
          <p:cNvPr id="182" name="Google Shape;182;p26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Benefits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Fast range update → O(log 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Fast range query → O(log n)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Lazy Array Concept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lazy[node] stores pending update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Apply update only when needed.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Lazy stores update without updating all nodes immediately.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5418225" y="910675"/>
            <a:ext cx="30000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 Concept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Array: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[1,2,3,4,5]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Update: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Add +10 to range (1,3)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Binary Indexed Tree (BIT) / Fenwick Tree</a:t>
            </a:r>
            <a:endParaRPr sz="2200"/>
          </a:p>
        </p:txBody>
      </p:sp>
      <p:sp>
        <p:nvSpPr>
          <p:cNvPr id="191" name="Google Shape;191;p27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Binary Indexed Tree is used for: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Prefix sum queries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Fast updates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 Complexity: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Update → O(log n)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Query → O(log n)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4227725" y="910675"/>
            <a:ext cx="47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Binary Indexed Tree (BIT) / Fenwick Tree</a:t>
            </a:r>
            <a:endParaRPr sz="2200"/>
          </a:p>
        </p:txBody>
      </p:sp>
      <p:sp>
        <p:nvSpPr>
          <p:cNvPr id="200" name="Google Shape;200;p28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4227725" y="910675"/>
            <a:ext cx="47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 rotWithShape="1">
          <a:blip r:embed="rId3">
            <a:alphaModFix/>
          </a:blip>
          <a:srcRect b="2590" l="0" r="0" t="-2590"/>
          <a:stretch/>
        </p:blipFill>
        <p:spPr>
          <a:xfrm>
            <a:off x="1530325" y="636225"/>
            <a:ext cx="5449751" cy="413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Binary Indexed Tree (BIT) / Fenwick Tree</a:t>
            </a:r>
            <a:endParaRPr sz="2200"/>
          </a:p>
        </p:txBody>
      </p:sp>
      <p:sp>
        <p:nvSpPr>
          <p:cNvPr id="210" name="Google Shape;210;p29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Structure Concept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Array: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[2,5,1,4]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BIT stores partial sums.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Visualization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BIT array 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Index: 1 2 3 4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Value: 2 7 1 12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4227725" y="910675"/>
            <a:ext cx="47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456700" y="910675"/>
            <a:ext cx="3000000" cy="22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Operations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Update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value at index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Query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 prefix sum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Segment Tree vs BIT Comparison</a:t>
            </a:r>
            <a:endParaRPr sz="2200"/>
          </a:p>
        </p:txBody>
      </p:sp>
      <p:sp>
        <p:nvSpPr>
          <p:cNvPr id="220" name="Google Shape;220;p30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4227725" y="910675"/>
            <a:ext cx="47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4929825" y="9106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3" name="Google Shape;2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150" y="1243425"/>
            <a:ext cx="5309550" cy="311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Applications</a:t>
            </a:r>
            <a:endParaRPr sz="2200"/>
          </a:p>
        </p:txBody>
      </p:sp>
      <p:sp>
        <p:nvSpPr>
          <p:cNvPr id="231" name="Google Shape;231;p31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Segment Tree Applications: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Range sum query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Range minimum query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Range maximum query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Game development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Competitive programming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4227725" y="910675"/>
            <a:ext cx="47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4929825" y="910675"/>
            <a:ext cx="30000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BIT Applications: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Prefix sums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Frequency counting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Inversion count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0" name="Google Shape;240;p3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Real-World Applications</a:t>
            </a:r>
            <a:endParaRPr sz="2200"/>
          </a:p>
        </p:txBody>
      </p:sp>
      <p:sp>
        <p:nvSpPr>
          <p:cNvPr id="241" name="Google Shape;241;p32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Database systems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Financial analysis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Analytics systems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Competitive programming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Range statistics computation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4227725" y="910675"/>
            <a:ext cx="47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196925" y="310100"/>
            <a:ext cx="635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Outcomes</a:t>
            </a:r>
            <a:endParaRPr sz="2200"/>
          </a:p>
        </p:txBody>
      </p:sp>
      <p:sp>
        <p:nvSpPr>
          <p:cNvPr id="250" name="Google Shape;250;p33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 range query problems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Segment Tree for range queries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Apply Lazy Propagation for efficient updates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Binary Indexed Tree (BIT)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Perform fast range query and update operations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AutoNum type="arabicPeriod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Apply range query algorithms in real-world problems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/>
        </p:nvSpPr>
        <p:spPr>
          <a:xfrm>
            <a:off x="2286000" y="2371695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